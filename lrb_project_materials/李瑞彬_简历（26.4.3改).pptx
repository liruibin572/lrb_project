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Lst>
  <p:sldSz cx="7559675" cy="10691495"/>
  <p:notesSz cx="6858000" cy="9144000"/>
  <p:embeddedFontLst>
    <p:embeddedFont>
      <p:font typeface="微软雅黑" panose="020B0503020204020204" pitchFamily="34" charset="-122"/>
      <p:regular r:id="rId8"/>
    </p:embeddedFont>
    <p:embeddedFont>
      <p:font typeface="等线" panose="02010600030101010101" pitchFamily="2" charset="-122"/>
      <p:regular r:id="rId9"/>
    </p:embeddedFont>
    <p:embeddedFont>
      <p:font typeface="Calibri" panose="020F0502020204030204" charset="0"/>
      <p:regular r:id="rId10"/>
      <p:bold r:id="rId11"/>
      <p:italic r:id="rId12"/>
      <p:boldItalic r:id="rId13"/>
    </p:embeddedFont>
    <p:embeddedFont>
      <p:font typeface="等线 Light" panose="02010600030101010101" charset="-122"/>
      <p:regular r:id="rId14"/>
    </p:embeddedFont>
    <p:embeddedFont>
      <p:font typeface="Calibri Light" panose="020F0302020204030204" charset="0"/>
      <p:regular r:id="rId15"/>
      <p: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3F0B"/>
    <a:srgbClr val="006C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261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font" Target="fonts/font2.fntdata"/><Relationship Id="rId8" Type="http://schemas.openxmlformats.org/officeDocument/2006/relationships/font" Target="fonts/font1.fntdata"/><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font" Target="fonts/font9.fntdata"/><Relationship Id="rId15" Type="http://schemas.openxmlformats.org/officeDocument/2006/relationships/font" Target="fonts/font8.fntdata"/><Relationship Id="rId14" Type="http://schemas.openxmlformats.org/officeDocument/2006/relationships/font" Target="fonts/font7.fntdata"/><Relationship Id="rId13" Type="http://schemas.openxmlformats.org/officeDocument/2006/relationships/font" Target="fonts/font6.fntdata"/><Relationship Id="rId12" Type="http://schemas.openxmlformats.org/officeDocument/2006/relationships/font" Target="fonts/font5.fntdata"/><Relationship Id="rId11" Type="http://schemas.openxmlformats.org/officeDocument/2006/relationships/font" Target="fonts/font4.fntdata"/><Relationship Id="rId10" Type="http://schemas.openxmlformats.org/officeDocument/2006/relationships/font" Target="fonts/font3.fntdata"/><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模板1">
    <p:spTree>
      <p:nvGrpSpPr>
        <p:cNvPr id="1" name=""/>
        <p:cNvGrpSpPr/>
        <p:nvPr/>
      </p:nvGrpSpPr>
      <p:grpSpPr>
        <a:xfrm>
          <a:off x="0" y="0"/>
          <a:ext cx="0" cy="0"/>
          <a:chOff x="0" y="0"/>
          <a:chExt cx="0" cy="0"/>
        </a:xfrm>
      </p:grpSpPr>
      <p:grpSp>
        <p:nvGrpSpPr>
          <p:cNvPr id="7" name="组合 6"/>
          <p:cNvGrpSpPr/>
          <p:nvPr userDrawn="1"/>
        </p:nvGrpSpPr>
        <p:grpSpPr>
          <a:xfrm>
            <a:off x="361327" y="317007"/>
            <a:ext cx="6837020" cy="504825"/>
            <a:chOff x="361327" y="227067"/>
            <a:chExt cx="6837020" cy="504825"/>
          </a:xfrm>
        </p:grpSpPr>
        <p:grpSp>
          <p:nvGrpSpPr>
            <p:cNvPr id="8" name="组合 7"/>
            <p:cNvGrpSpPr/>
            <p:nvPr/>
          </p:nvGrpSpPr>
          <p:grpSpPr>
            <a:xfrm>
              <a:off x="361327" y="417374"/>
              <a:ext cx="6837020" cy="124210"/>
              <a:chOff x="1749292" y="1732865"/>
              <a:chExt cx="2947374" cy="68952"/>
            </a:xfrm>
          </p:grpSpPr>
          <p:sp>
            <p:nvSpPr>
              <p:cNvPr id="10" name="矩形 9"/>
              <p:cNvSpPr/>
              <p:nvPr/>
            </p:nvSpPr>
            <p:spPr>
              <a:xfrm>
                <a:off x="1749292" y="1732865"/>
                <a:ext cx="906118" cy="68952"/>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sp>
            <p:nvSpPr>
              <p:cNvPr id="11" name="矩形 10"/>
              <p:cNvSpPr/>
              <p:nvPr/>
            </p:nvSpPr>
            <p:spPr>
              <a:xfrm>
                <a:off x="3811971" y="1732865"/>
                <a:ext cx="884695" cy="68952"/>
              </a:xfrm>
              <a:prstGeom prst="rect">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grpSp>
        <p:pic>
          <p:nvPicPr>
            <p:cNvPr id="9" name="图片 8"/>
            <p:cNvPicPr/>
            <p:nvPr/>
          </p:nvPicPr>
          <p:blipFill>
            <a:blip r:embed="rId2" cstate="screen"/>
            <a:stretch>
              <a:fillRect/>
            </a:stretch>
          </p:blipFill>
          <p:spPr>
            <a:xfrm>
              <a:off x="2632392" y="227067"/>
              <a:ext cx="2294890" cy="504825"/>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模板2">
    <p:spTree>
      <p:nvGrpSpPr>
        <p:cNvPr id="1" name=""/>
        <p:cNvGrpSpPr/>
        <p:nvPr/>
      </p:nvGrpSpPr>
      <p:grpSpPr>
        <a:xfrm>
          <a:off x="0" y="0"/>
          <a:ext cx="0" cy="0"/>
          <a:chOff x="0" y="0"/>
          <a:chExt cx="0" cy="0"/>
        </a:xfrm>
      </p:grpSpPr>
      <p:sp>
        <p:nvSpPr>
          <p:cNvPr id="6" name="矩形 5"/>
          <p:cNvSpPr/>
          <p:nvPr userDrawn="1"/>
        </p:nvSpPr>
        <p:spPr>
          <a:xfrm>
            <a:off x="1" y="-1"/>
            <a:ext cx="7559674" cy="782381"/>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2" cstate="screen"/>
          <a:stretch>
            <a:fillRect/>
          </a:stretch>
        </p:blipFill>
        <p:spPr>
          <a:xfrm>
            <a:off x="2775853" y="89341"/>
            <a:ext cx="2157884" cy="603997"/>
          </a:xfrm>
          <a:prstGeom prst="rect">
            <a:avLst/>
          </a:prstGeom>
        </p:spPr>
      </p:pic>
      <p:sp>
        <p:nvSpPr>
          <p:cNvPr id="8" name="矩形 7"/>
          <p:cNvSpPr/>
          <p:nvPr userDrawn="1"/>
        </p:nvSpPr>
        <p:spPr>
          <a:xfrm>
            <a:off x="0" y="10329546"/>
            <a:ext cx="7559674" cy="362267"/>
          </a:xfrm>
          <a:prstGeom prst="rect">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模板3">
    <p:spTree>
      <p:nvGrpSpPr>
        <p:cNvPr id="1" name=""/>
        <p:cNvGrpSpPr/>
        <p:nvPr/>
      </p:nvGrpSpPr>
      <p:grpSpPr>
        <a:xfrm>
          <a:off x="0" y="0"/>
          <a:ext cx="0" cy="0"/>
          <a:chOff x="0" y="0"/>
          <a:chExt cx="0" cy="0"/>
        </a:xfrm>
      </p:grpSpPr>
      <p:sp>
        <p:nvSpPr>
          <p:cNvPr id="7" name="矩形 6"/>
          <p:cNvSpPr/>
          <p:nvPr userDrawn="1"/>
        </p:nvSpPr>
        <p:spPr>
          <a:xfrm>
            <a:off x="1" y="-1"/>
            <a:ext cx="7559674" cy="782381"/>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grpSp>
        <p:nvGrpSpPr>
          <p:cNvPr id="8" name="组合 7"/>
          <p:cNvGrpSpPr/>
          <p:nvPr userDrawn="1"/>
        </p:nvGrpSpPr>
        <p:grpSpPr>
          <a:xfrm>
            <a:off x="2110374" y="89341"/>
            <a:ext cx="3338927" cy="603997"/>
            <a:chOff x="2775853" y="89341"/>
            <a:chExt cx="3338927" cy="603997"/>
          </a:xfrm>
        </p:grpSpPr>
        <p:pic>
          <p:nvPicPr>
            <p:cNvPr id="9" name="图片 8"/>
            <p:cNvPicPr>
              <a:picLocks noChangeAspect="1"/>
            </p:cNvPicPr>
            <p:nvPr/>
          </p:nvPicPr>
          <p:blipFill>
            <a:blip r:embed="rId2" cstate="screen"/>
            <a:stretch>
              <a:fillRect/>
            </a:stretch>
          </p:blipFill>
          <p:spPr>
            <a:xfrm>
              <a:off x="2775853" y="89341"/>
              <a:ext cx="2157884" cy="603997"/>
            </a:xfrm>
            <a:prstGeom prst="rect">
              <a:avLst/>
            </a:prstGeom>
          </p:spPr>
        </p:pic>
        <p:cxnSp>
          <p:nvCxnSpPr>
            <p:cNvPr id="10" name="直接连接符 9"/>
            <p:cNvCxnSpPr/>
            <p:nvPr/>
          </p:nvCxnSpPr>
          <p:spPr>
            <a:xfrm>
              <a:off x="4940269" y="195781"/>
              <a:ext cx="0" cy="44004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011444" y="214289"/>
              <a:ext cx="1103336" cy="418063"/>
            </a:xfrm>
            <a:prstGeom prst="rect">
              <a:avLst/>
            </a:prstGeom>
            <a:noFill/>
          </p:spPr>
          <p:txBody>
            <a:bodyPr wrap="square">
              <a:spAutoFit/>
            </a:bodyPr>
            <a:lstStyle/>
            <a:p>
              <a:pPr marL="0" marR="0" lvl="0" indent="0" algn="dist" defTabSz="755650" rtl="0" eaLnBrk="1" fontAlgn="auto" latinLnBrk="0" hangingPunct="1">
                <a:lnSpc>
                  <a:spcPct val="100000"/>
                </a:lnSpc>
                <a:spcBef>
                  <a:spcPts val="0"/>
                </a:spcBef>
                <a:spcAft>
                  <a:spcPts val="200"/>
                </a:spcAft>
                <a:buClrTx/>
                <a:buSzTx/>
                <a:buFontTx/>
                <a:buNone/>
                <a:defRPr/>
              </a:pPr>
              <a:r>
                <a:rPr lang="zh-CN" altLang="en-US" sz="1400" b="1" kern="100" dirty="0">
                  <a:solidFill>
                    <a:schemeClr val="bg1"/>
                  </a:solidFill>
                  <a:latin typeface="微软雅黑" panose="020B0503020204020204" pitchFamily="34" charset="-122"/>
                  <a:ea typeface="微软雅黑" panose="020B0503020204020204" pitchFamily="34" charset="-122"/>
                </a:rPr>
                <a:t>个人简历</a:t>
              </a:r>
              <a:endParaRPr lang="en-US" altLang="zh-CN" sz="1400" b="1" kern="100" dirty="0">
                <a:solidFill>
                  <a:schemeClr val="bg1"/>
                </a:solidFill>
                <a:latin typeface="微软雅黑" panose="020B0503020204020204" pitchFamily="34" charset="-122"/>
                <a:ea typeface="微软雅黑" panose="020B0503020204020204" pitchFamily="34" charset="-122"/>
              </a:endParaRPr>
            </a:p>
            <a:p>
              <a:pPr marL="0" marR="0" lvl="0" indent="0" algn="dist" defTabSz="755650" rtl="0" eaLnBrk="1" fontAlgn="auto" latinLnBrk="0" hangingPunct="1">
                <a:lnSpc>
                  <a:spcPct val="100000"/>
                </a:lnSpc>
                <a:spcBef>
                  <a:spcPts val="0"/>
                </a:spcBef>
                <a:spcAft>
                  <a:spcPts val="200"/>
                </a:spcAft>
                <a:buClrTx/>
                <a:buSzTx/>
                <a:buFontTx/>
                <a:buNone/>
                <a:defRPr/>
              </a:pPr>
              <a:r>
                <a:rPr lang="en-US" altLang="zh-CN" sz="550" b="1" kern="100" dirty="0">
                  <a:solidFill>
                    <a:schemeClr val="bg1"/>
                  </a:solidFill>
                  <a:effectLst/>
                  <a:latin typeface="微软雅黑" panose="020B0503020204020204" pitchFamily="34" charset="-122"/>
                  <a:ea typeface="微软雅黑" panose="020B0503020204020204" pitchFamily="34" charset="-122"/>
                </a:rPr>
                <a:t>PERSONAL RESUME</a:t>
              </a:r>
              <a:endParaRPr lang="zh-CN" altLang="zh-CN" sz="550" b="1" kern="100" dirty="0">
                <a:solidFill>
                  <a:schemeClr val="bg1"/>
                </a:solidFill>
                <a:effectLst/>
                <a:latin typeface="微软雅黑" panose="020B0503020204020204" pitchFamily="34" charset="-122"/>
                <a:ea typeface="微软雅黑" panose="020B0503020204020204" pitchFamily="34" charset="-122"/>
              </a:endParaRPr>
            </a:p>
          </p:txBody>
        </p:sp>
      </p:grpSp>
      <p:sp>
        <p:nvSpPr>
          <p:cNvPr id="12" name="矩形 11"/>
          <p:cNvSpPr/>
          <p:nvPr userDrawn="1"/>
        </p:nvSpPr>
        <p:spPr>
          <a:xfrm>
            <a:off x="0" y="10329546"/>
            <a:ext cx="7559674" cy="362267"/>
          </a:xfrm>
          <a:prstGeom prst="rect">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模板4">
    <p:spTree>
      <p:nvGrpSpPr>
        <p:cNvPr id="1" name=""/>
        <p:cNvGrpSpPr/>
        <p:nvPr/>
      </p:nvGrpSpPr>
      <p:grpSpPr>
        <a:xfrm>
          <a:off x="0" y="0"/>
          <a:ext cx="0" cy="0"/>
          <a:chOff x="0" y="0"/>
          <a:chExt cx="0" cy="0"/>
        </a:xfrm>
      </p:grpSpPr>
      <p:sp>
        <p:nvSpPr>
          <p:cNvPr id="7" name="矩形 6"/>
          <p:cNvSpPr/>
          <p:nvPr userDrawn="1"/>
        </p:nvSpPr>
        <p:spPr>
          <a:xfrm>
            <a:off x="0" y="-957"/>
            <a:ext cx="7559675" cy="722680"/>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userDrawn="1"/>
        </p:nvPicPr>
        <p:blipFill>
          <a:blip r:embed="rId2" cstate="screen"/>
          <a:stretch>
            <a:fillRect/>
          </a:stretch>
        </p:blipFill>
        <p:spPr>
          <a:xfrm>
            <a:off x="5177953" y="63598"/>
            <a:ext cx="2157884" cy="603997"/>
          </a:xfrm>
          <a:prstGeom prst="rect">
            <a:avLst/>
          </a:prstGeom>
        </p:spPr>
      </p:pic>
      <p:sp>
        <p:nvSpPr>
          <p:cNvPr id="9" name="矩形 8"/>
          <p:cNvSpPr/>
          <p:nvPr userDrawn="1"/>
        </p:nvSpPr>
        <p:spPr>
          <a:xfrm>
            <a:off x="0" y="10329546"/>
            <a:ext cx="7559674" cy="362267"/>
          </a:xfrm>
          <a:prstGeom prst="rect">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模板5">
    <p:spTree>
      <p:nvGrpSpPr>
        <p:cNvPr id="1" name=""/>
        <p:cNvGrpSpPr/>
        <p:nvPr/>
      </p:nvGrpSpPr>
      <p:grpSpPr>
        <a:xfrm>
          <a:off x="0" y="0"/>
          <a:ext cx="0" cy="0"/>
          <a:chOff x="0" y="0"/>
          <a:chExt cx="0" cy="0"/>
        </a:xfrm>
      </p:grpSpPr>
      <p:sp>
        <p:nvSpPr>
          <p:cNvPr id="8" name="矩形 7"/>
          <p:cNvSpPr/>
          <p:nvPr userDrawn="1"/>
        </p:nvSpPr>
        <p:spPr>
          <a:xfrm>
            <a:off x="0" y="0"/>
            <a:ext cx="2325542" cy="10691813"/>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a:xfrm>
            <a:off x="1" y="0"/>
            <a:ext cx="2325541" cy="1294219"/>
            <a:chOff x="4516582" y="2070074"/>
            <a:chExt cx="1579418" cy="1294219"/>
          </a:xfrm>
          <a:solidFill>
            <a:srgbClr val="006C39"/>
          </a:solidFill>
          <a:effectLst>
            <a:outerShdw blurRad="50800" dist="38100" dir="5400000" algn="t" rotWithShape="0">
              <a:prstClr val="black">
                <a:alpha val="40000"/>
              </a:prstClr>
            </a:outerShdw>
          </a:effectLst>
        </p:grpSpPr>
        <p:sp>
          <p:nvSpPr>
            <p:cNvPr id="10" name="矩形 9"/>
            <p:cNvSpPr/>
            <p:nvPr/>
          </p:nvSpPr>
          <p:spPr>
            <a:xfrm>
              <a:off x="4516582" y="2070074"/>
              <a:ext cx="1579418" cy="9698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菱形 10"/>
            <p:cNvSpPr/>
            <p:nvPr/>
          </p:nvSpPr>
          <p:spPr>
            <a:xfrm>
              <a:off x="4516582" y="2715491"/>
              <a:ext cx="1579418" cy="648802"/>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userDrawn="1"/>
        </p:nvGrpSpPr>
        <p:grpSpPr>
          <a:xfrm>
            <a:off x="744469" y="207170"/>
            <a:ext cx="836604" cy="836604"/>
            <a:chOff x="644235" y="207539"/>
            <a:chExt cx="1192152" cy="1192152"/>
          </a:xfrm>
        </p:grpSpPr>
        <p:sp>
          <p:nvSpPr>
            <p:cNvPr id="13" name="椭圆 12"/>
            <p:cNvSpPr/>
            <p:nvPr/>
          </p:nvSpPr>
          <p:spPr>
            <a:xfrm>
              <a:off x="644235" y="207539"/>
              <a:ext cx="1192152" cy="11921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2" cstate="screen"/>
            <a:stretch>
              <a:fillRect/>
            </a:stretch>
          </p:blipFill>
          <p:spPr>
            <a:xfrm>
              <a:off x="671754" y="235859"/>
              <a:ext cx="1137115" cy="1135513"/>
            </a:xfrm>
            <a:prstGeom prst="rect">
              <a:avLst/>
            </a:prstGeom>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模板6">
    <p:spTree>
      <p:nvGrpSpPr>
        <p:cNvPr id="1" name=""/>
        <p:cNvGrpSpPr/>
        <p:nvPr/>
      </p:nvGrpSpPr>
      <p:grpSpPr>
        <a:xfrm>
          <a:off x="0" y="0"/>
          <a:ext cx="0" cy="0"/>
          <a:chOff x="0" y="0"/>
          <a:chExt cx="0" cy="0"/>
        </a:xfrm>
      </p:grpSpPr>
      <p:sp>
        <p:nvSpPr>
          <p:cNvPr id="10" name="矩形 9"/>
          <p:cNvSpPr/>
          <p:nvPr userDrawn="1"/>
        </p:nvSpPr>
        <p:spPr>
          <a:xfrm>
            <a:off x="0" y="0"/>
            <a:ext cx="2325542" cy="10691813"/>
          </a:xfrm>
          <a:prstGeom prst="rect">
            <a:avLst/>
          </a:prstGeom>
          <a:solidFill>
            <a:srgbClr val="006C3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1" name="组合 60"/>
          <p:cNvGrpSpPr/>
          <p:nvPr userDrawn="1"/>
        </p:nvGrpSpPr>
        <p:grpSpPr>
          <a:xfrm>
            <a:off x="2577857" y="493993"/>
            <a:ext cx="4632128" cy="428365"/>
            <a:chOff x="380824" y="242651"/>
            <a:chExt cx="5458929" cy="504825"/>
          </a:xfrm>
        </p:grpSpPr>
        <p:grpSp>
          <p:nvGrpSpPr>
            <p:cNvPr id="62" name="组合 61"/>
            <p:cNvGrpSpPr/>
            <p:nvPr/>
          </p:nvGrpSpPr>
          <p:grpSpPr>
            <a:xfrm>
              <a:off x="380824" y="417360"/>
              <a:ext cx="5458929" cy="150589"/>
              <a:chOff x="1757697" y="1732865"/>
              <a:chExt cx="2353292" cy="83596"/>
            </a:xfrm>
          </p:grpSpPr>
          <p:sp>
            <p:nvSpPr>
              <p:cNvPr id="64" name="矩形 63"/>
              <p:cNvSpPr/>
              <p:nvPr/>
            </p:nvSpPr>
            <p:spPr>
              <a:xfrm>
                <a:off x="1757697" y="1732865"/>
                <a:ext cx="577272" cy="83596"/>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sp>
            <p:nvSpPr>
              <p:cNvPr id="65" name="矩形 64"/>
              <p:cNvSpPr/>
              <p:nvPr/>
            </p:nvSpPr>
            <p:spPr>
              <a:xfrm>
                <a:off x="3533716" y="1732865"/>
                <a:ext cx="577273" cy="83596"/>
              </a:xfrm>
              <a:prstGeom prst="rect">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lIns="142558" tIns="0" rIns="395120" bIns="0" rtlCol="0" anchor="ctr"/>
              <a:lstStyle/>
              <a:p>
                <a:pPr algn="r"/>
                <a:endParaRPr lang="zh-CN" altLang="en-US" sz="2180" b="1" dirty="0">
                  <a:latin typeface="微软雅黑" panose="020B0503020204020204" pitchFamily="34" charset="-122"/>
                  <a:ea typeface="微软雅黑" panose="020B0503020204020204" pitchFamily="34" charset="-122"/>
                </a:endParaRPr>
              </a:p>
            </p:txBody>
          </p:sp>
        </p:grpSp>
        <p:pic>
          <p:nvPicPr>
            <p:cNvPr id="63" name="图片 62"/>
            <p:cNvPicPr/>
            <p:nvPr/>
          </p:nvPicPr>
          <p:blipFill>
            <a:blip r:embed="rId2" cstate="screen"/>
            <a:stretch>
              <a:fillRect/>
            </a:stretch>
          </p:blipFill>
          <p:spPr>
            <a:xfrm>
              <a:off x="1962842" y="242651"/>
              <a:ext cx="2294889" cy="504825"/>
            </a:xfrm>
            <a:prstGeom prst="rect">
              <a:avLst/>
            </a:prstGeom>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BE0AFD-8CE9-41D2-9433-62F1CFBF9AFE}"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15AB9C1-B5DA-40A8-9503-0199F82386E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0">
                <a:solidFill>
                  <a:schemeClr val="tx1">
                    <a:tint val="75000"/>
                  </a:schemeClr>
                </a:solidFill>
              </a:defRPr>
            </a:lvl1pPr>
          </a:lstStyle>
          <a:p>
            <a:fld id="{79BE0AFD-8CE9-41D2-9433-62F1CFBF9AFE}" type="datetimeFigureOut">
              <a:rPr lang="zh-CN" altLang="en-US" smtClean="0"/>
            </a:fld>
            <a:endParaRPr lang="zh-CN" alt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0">
                <a:solidFill>
                  <a:schemeClr val="tx1">
                    <a:tint val="75000"/>
                  </a:schemeClr>
                </a:solidFill>
              </a:defRPr>
            </a:lvl1pPr>
          </a:lstStyle>
          <a:p>
            <a:fld id="{B15AB9C1-B5DA-40A8-9503-0199F82386E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755650" rtl="0" eaLnBrk="1" latinLnBrk="0" hangingPunct="1">
        <a:lnSpc>
          <a:spcPct val="90000"/>
        </a:lnSpc>
        <a:spcBef>
          <a:spcPct val="0"/>
        </a:spcBef>
        <a:buNone/>
        <a:defRPr sz="3635" kern="1200">
          <a:solidFill>
            <a:schemeClr val="tx1"/>
          </a:solidFill>
          <a:latin typeface="+mj-lt"/>
          <a:ea typeface="+mj-ea"/>
          <a:cs typeface="+mj-cs"/>
        </a:defRPr>
      </a:lvl1pPr>
    </p:titleStyle>
    <p:bodyStyle>
      <a:lvl1pPr marL="189230" indent="-189230" algn="l" defTabSz="755650" rtl="0" eaLnBrk="1" latinLnBrk="0" hangingPunct="1">
        <a:lnSpc>
          <a:spcPct val="90000"/>
        </a:lnSpc>
        <a:spcBef>
          <a:spcPts val="825"/>
        </a:spcBef>
        <a:buFont typeface="Arial" panose="020B0604020202020204" pitchFamily="34" charset="0"/>
        <a:buChar char="•"/>
        <a:defRPr sz="2315" kern="1200">
          <a:solidFill>
            <a:schemeClr val="tx1"/>
          </a:solidFill>
          <a:latin typeface="+mn-lt"/>
          <a:ea typeface="+mn-ea"/>
          <a:cs typeface="+mn-cs"/>
        </a:defRPr>
      </a:lvl1pPr>
      <a:lvl2pPr marL="567055" indent="-189230" algn="l" defTabSz="755650" rtl="0" eaLnBrk="1" latinLnBrk="0" hangingPunct="1">
        <a:lnSpc>
          <a:spcPct val="90000"/>
        </a:lnSpc>
        <a:spcBef>
          <a:spcPts val="415"/>
        </a:spcBef>
        <a:buFont typeface="Arial" panose="020B0604020202020204" pitchFamily="34" charset="0"/>
        <a:buChar char="•"/>
        <a:defRPr sz="1985" kern="1200">
          <a:solidFill>
            <a:schemeClr val="tx1"/>
          </a:solidFill>
          <a:latin typeface="+mn-lt"/>
          <a:ea typeface="+mn-ea"/>
          <a:cs typeface="+mn-cs"/>
        </a:defRPr>
      </a:lvl2pPr>
      <a:lvl3pPr marL="944880" indent="-189230" algn="l" defTabSz="755650" rtl="0" eaLnBrk="1" latinLnBrk="0" hangingPunct="1">
        <a:lnSpc>
          <a:spcPct val="90000"/>
        </a:lnSpc>
        <a:spcBef>
          <a:spcPts val="415"/>
        </a:spcBef>
        <a:buFont typeface="Arial" panose="020B0604020202020204" pitchFamily="34" charset="0"/>
        <a:buChar char="•"/>
        <a:defRPr sz="1655" kern="1200">
          <a:solidFill>
            <a:schemeClr val="tx1"/>
          </a:solidFill>
          <a:latin typeface="+mn-lt"/>
          <a:ea typeface="+mn-ea"/>
          <a:cs typeface="+mn-cs"/>
        </a:defRPr>
      </a:lvl3pPr>
      <a:lvl4pPr marL="1322705" indent="-189230" algn="l" defTabSz="755650" rtl="0" eaLnBrk="1" latinLnBrk="0" hangingPunct="1">
        <a:lnSpc>
          <a:spcPct val="90000"/>
        </a:lnSpc>
        <a:spcBef>
          <a:spcPts val="415"/>
        </a:spcBef>
        <a:buFont typeface="Arial" panose="020B0604020202020204" pitchFamily="34" charset="0"/>
        <a:buChar char="•"/>
        <a:defRPr sz="1490" kern="1200">
          <a:solidFill>
            <a:schemeClr val="tx1"/>
          </a:solidFill>
          <a:latin typeface="+mn-lt"/>
          <a:ea typeface="+mn-ea"/>
          <a:cs typeface="+mn-cs"/>
        </a:defRPr>
      </a:lvl4pPr>
      <a:lvl5pPr marL="1701165" indent="-189230" algn="l" defTabSz="755650" rtl="0" eaLnBrk="1" latinLnBrk="0" hangingPunct="1">
        <a:lnSpc>
          <a:spcPct val="90000"/>
        </a:lnSpc>
        <a:spcBef>
          <a:spcPts val="415"/>
        </a:spcBef>
        <a:buFont typeface="Arial" panose="020B0604020202020204" pitchFamily="34" charset="0"/>
        <a:buChar char="•"/>
        <a:defRPr sz="1490" kern="1200">
          <a:solidFill>
            <a:schemeClr val="tx1"/>
          </a:solidFill>
          <a:latin typeface="+mn-lt"/>
          <a:ea typeface="+mn-ea"/>
          <a:cs typeface="+mn-cs"/>
        </a:defRPr>
      </a:lvl5pPr>
      <a:lvl6pPr marL="2078990" indent="-189230" algn="l" defTabSz="755650" rtl="0" eaLnBrk="1" latinLnBrk="0" hangingPunct="1">
        <a:lnSpc>
          <a:spcPct val="90000"/>
        </a:lnSpc>
        <a:spcBef>
          <a:spcPts val="415"/>
        </a:spcBef>
        <a:buFont typeface="Arial" panose="020B0604020202020204" pitchFamily="34" charset="0"/>
        <a:buChar char="•"/>
        <a:defRPr sz="1490" kern="1200">
          <a:solidFill>
            <a:schemeClr val="tx1"/>
          </a:solidFill>
          <a:latin typeface="+mn-lt"/>
          <a:ea typeface="+mn-ea"/>
          <a:cs typeface="+mn-cs"/>
        </a:defRPr>
      </a:lvl6pPr>
      <a:lvl7pPr marL="2456815" indent="-189230" algn="l" defTabSz="755650" rtl="0" eaLnBrk="1" latinLnBrk="0" hangingPunct="1">
        <a:lnSpc>
          <a:spcPct val="90000"/>
        </a:lnSpc>
        <a:spcBef>
          <a:spcPts val="415"/>
        </a:spcBef>
        <a:buFont typeface="Arial" panose="020B0604020202020204" pitchFamily="34" charset="0"/>
        <a:buChar char="•"/>
        <a:defRPr sz="1490" kern="1200">
          <a:solidFill>
            <a:schemeClr val="tx1"/>
          </a:solidFill>
          <a:latin typeface="+mn-lt"/>
          <a:ea typeface="+mn-ea"/>
          <a:cs typeface="+mn-cs"/>
        </a:defRPr>
      </a:lvl7pPr>
      <a:lvl8pPr marL="2834640" indent="-189230" algn="l" defTabSz="755650" rtl="0" eaLnBrk="1" latinLnBrk="0" hangingPunct="1">
        <a:lnSpc>
          <a:spcPct val="90000"/>
        </a:lnSpc>
        <a:spcBef>
          <a:spcPts val="415"/>
        </a:spcBef>
        <a:buFont typeface="Arial" panose="020B0604020202020204" pitchFamily="34" charset="0"/>
        <a:buChar char="•"/>
        <a:defRPr sz="1490" kern="1200">
          <a:solidFill>
            <a:schemeClr val="tx1"/>
          </a:solidFill>
          <a:latin typeface="+mn-lt"/>
          <a:ea typeface="+mn-ea"/>
          <a:cs typeface="+mn-cs"/>
        </a:defRPr>
      </a:lvl8pPr>
      <a:lvl9pPr marL="3212465" indent="-189230" algn="l" defTabSz="755650" rtl="0" eaLnBrk="1" latinLnBrk="0" hangingPunct="1">
        <a:lnSpc>
          <a:spcPct val="90000"/>
        </a:lnSpc>
        <a:spcBef>
          <a:spcPts val="415"/>
        </a:spcBef>
        <a:buFont typeface="Arial" panose="020B0604020202020204" pitchFamily="34" charset="0"/>
        <a:buChar char="•"/>
        <a:defRPr sz="1490" kern="1200">
          <a:solidFill>
            <a:schemeClr val="tx1"/>
          </a:solidFill>
          <a:latin typeface="+mn-lt"/>
          <a:ea typeface="+mn-ea"/>
          <a:cs typeface="+mn-cs"/>
        </a:defRPr>
      </a:lvl9pPr>
    </p:bodyStyle>
    <p:otherStyle>
      <a:defPPr>
        <a:defRPr lang="en-US"/>
      </a:defPPr>
      <a:lvl1pPr marL="0" algn="l" defTabSz="755650" rtl="0" eaLnBrk="1" latinLnBrk="0" hangingPunct="1">
        <a:defRPr sz="1490" kern="1200">
          <a:solidFill>
            <a:schemeClr val="tx1"/>
          </a:solidFill>
          <a:latin typeface="+mn-lt"/>
          <a:ea typeface="+mn-ea"/>
          <a:cs typeface="+mn-cs"/>
        </a:defRPr>
      </a:lvl1pPr>
      <a:lvl2pPr marL="377825" algn="l" defTabSz="755650" rtl="0" eaLnBrk="1" latinLnBrk="0" hangingPunct="1">
        <a:defRPr sz="1490" kern="1200">
          <a:solidFill>
            <a:schemeClr val="tx1"/>
          </a:solidFill>
          <a:latin typeface="+mn-lt"/>
          <a:ea typeface="+mn-ea"/>
          <a:cs typeface="+mn-cs"/>
        </a:defRPr>
      </a:lvl2pPr>
      <a:lvl3pPr marL="755650" algn="l" defTabSz="755650" rtl="0" eaLnBrk="1" latinLnBrk="0" hangingPunct="1">
        <a:defRPr sz="1490" kern="1200">
          <a:solidFill>
            <a:schemeClr val="tx1"/>
          </a:solidFill>
          <a:latin typeface="+mn-lt"/>
          <a:ea typeface="+mn-ea"/>
          <a:cs typeface="+mn-cs"/>
        </a:defRPr>
      </a:lvl3pPr>
      <a:lvl4pPr marL="1134110" algn="l" defTabSz="755650" rtl="0" eaLnBrk="1" latinLnBrk="0" hangingPunct="1">
        <a:defRPr sz="1490" kern="1200">
          <a:solidFill>
            <a:schemeClr val="tx1"/>
          </a:solidFill>
          <a:latin typeface="+mn-lt"/>
          <a:ea typeface="+mn-ea"/>
          <a:cs typeface="+mn-cs"/>
        </a:defRPr>
      </a:lvl4pPr>
      <a:lvl5pPr marL="1511935" algn="l" defTabSz="755650" rtl="0" eaLnBrk="1" latinLnBrk="0" hangingPunct="1">
        <a:defRPr sz="1490" kern="1200">
          <a:solidFill>
            <a:schemeClr val="tx1"/>
          </a:solidFill>
          <a:latin typeface="+mn-lt"/>
          <a:ea typeface="+mn-ea"/>
          <a:cs typeface="+mn-cs"/>
        </a:defRPr>
      </a:lvl5pPr>
      <a:lvl6pPr marL="1889760" algn="l" defTabSz="755650" rtl="0" eaLnBrk="1" latinLnBrk="0" hangingPunct="1">
        <a:defRPr sz="1490" kern="1200">
          <a:solidFill>
            <a:schemeClr val="tx1"/>
          </a:solidFill>
          <a:latin typeface="+mn-lt"/>
          <a:ea typeface="+mn-ea"/>
          <a:cs typeface="+mn-cs"/>
        </a:defRPr>
      </a:lvl6pPr>
      <a:lvl7pPr marL="2267585" algn="l" defTabSz="755650" rtl="0" eaLnBrk="1" latinLnBrk="0" hangingPunct="1">
        <a:defRPr sz="1490" kern="1200">
          <a:solidFill>
            <a:schemeClr val="tx1"/>
          </a:solidFill>
          <a:latin typeface="+mn-lt"/>
          <a:ea typeface="+mn-ea"/>
          <a:cs typeface="+mn-cs"/>
        </a:defRPr>
      </a:lvl7pPr>
      <a:lvl8pPr marL="2646045" algn="l" defTabSz="755650" rtl="0" eaLnBrk="1" latinLnBrk="0" hangingPunct="1">
        <a:defRPr sz="1490" kern="1200">
          <a:solidFill>
            <a:schemeClr val="tx1"/>
          </a:solidFill>
          <a:latin typeface="+mn-lt"/>
          <a:ea typeface="+mn-ea"/>
          <a:cs typeface="+mn-cs"/>
        </a:defRPr>
      </a:lvl8pPr>
      <a:lvl9pPr marL="3023870" algn="l" defTabSz="755650" rtl="0" eaLnBrk="1" latinLnBrk="0" hangingPunct="1">
        <a:defRPr sz="14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362089" y="688676"/>
            <a:ext cx="5722620" cy="393828"/>
            <a:chOff x="1634247" y="768205"/>
            <a:chExt cx="5664349" cy="389817"/>
          </a:xfrm>
        </p:grpSpPr>
        <p:sp>
          <p:nvSpPr>
            <p:cNvPr id="16" name="等腰三角形 15"/>
            <p:cNvSpPr/>
            <p:nvPr/>
          </p:nvSpPr>
          <p:spPr>
            <a:xfrm rot="16200000" flipH="1">
              <a:off x="1654013" y="947696"/>
              <a:ext cx="190559" cy="230092"/>
            </a:xfrm>
            <a:prstGeom prst="triangle">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5"/>
            </a:p>
          </p:txBody>
        </p:sp>
        <p:sp>
          <p:nvSpPr>
            <p:cNvPr id="23" name="梯形 22"/>
            <p:cNvSpPr/>
            <p:nvPr/>
          </p:nvSpPr>
          <p:spPr>
            <a:xfrm>
              <a:off x="2617158" y="768206"/>
              <a:ext cx="370439" cy="286765"/>
            </a:xfrm>
            <a:prstGeom prst="trapezoid">
              <a:avLst>
                <a:gd name="adj" fmla="val 59351"/>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a:solidFill>
                  <a:prstClr val="white"/>
                </a:solidFill>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1864339" y="838047"/>
              <a:ext cx="0" cy="319975"/>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634248" y="768206"/>
              <a:ext cx="1172010" cy="286765"/>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57520" bIns="0" rtlCol="0" anchor="ctr"/>
            <a:lstStyle/>
            <a:p>
              <a:pPr algn="r"/>
              <a:r>
                <a:rPr lang="zh-CN" altLang="en-US" sz="1300" b="1" dirty="0">
                  <a:latin typeface="微软雅黑" panose="020B0503020204020204" pitchFamily="34" charset="-122"/>
                  <a:ea typeface="微软雅黑" panose="020B0503020204020204" pitchFamily="34" charset="-122"/>
                </a:rPr>
                <a:t>基本信息</a:t>
              </a:r>
              <a:endParaRPr lang="zh-CN" altLang="en-US" sz="1300" b="1" dirty="0">
                <a:latin typeface="微软雅黑" panose="020B0503020204020204" pitchFamily="34" charset="-122"/>
                <a:ea typeface="微软雅黑" panose="020B0503020204020204" pitchFamily="34" charset="-122"/>
              </a:endParaRPr>
            </a:p>
          </p:txBody>
        </p:sp>
        <p:sp>
          <p:nvSpPr>
            <p:cNvPr id="24" name="平行四边形 23"/>
            <p:cNvSpPr/>
            <p:nvPr/>
          </p:nvSpPr>
          <p:spPr>
            <a:xfrm flipH="1">
              <a:off x="2847249" y="768205"/>
              <a:ext cx="258803" cy="286765"/>
            </a:xfrm>
            <a:prstGeom prst="parallelogram">
              <a:avLst>
                <a:gd name="adj" fmla="val 66067"/>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dirty="0">
                <a:solidFill>
                  <a:prstClr val="white"/>
                </a:solidFill>
                <a:latin typeface="微软雅黑" panose="020B0503020204020204" pitchFamily="34" charset="-122"/>
                <a:ea typeface="微软雅黑" panose="020B0503020204020204" pitchFamily="34" charset="-122"/>
              </a:endParaRPr>
            </a:p>
          </p:txBody>
        </p:sp>
        <p:cxnSp>
          <p:nvCxnSpPr>
            <p:cNvPr id="26" name="直接连接符 25"/>
            <p:cNvCxnSpPr/>
            <p:nvPr/>
          </p:nvCxnSpPr>
          <p:spPr>
            <a:xfrm flipV="1">
              <a:off x="1634247" y="1051827"/>
              <a:ext cx="5664349" cy="3143"/>
            </a:xfrm>
            <a:prstGeom prst="line">
              <a:avLst/>
            </a:prstGeom>
            <a:ln w="19050">
              <a:solidFill>
                <a:srgbClr val="006C39"/>
              </a:solidFill>
            </a:ln>
          </p:spPr>
          <p:style>
            <a:lnRef idx="1">
              <a:schemeClr val="accent1"/>
            </a:lnRef>
            <a:fillRef idx="0">
              <a:schemeClr val="accent1"/>
            </a:fillRef>
            <a:effectRef idx="0">
              <a:schemeClr val="accent1"/>
            </a:effectRef>
            <a:fontRef idx="minor">
              <a:schemeClr val="tx1"/>
            </a:fontRef>
          </p:style>
        </p:cxnSp>
      </p:grpSp>
      <p:cxnSp>
        <p:nvCxnSpPr>
          <p:cNvPr id="19" name="直接连接符 18"/>
          <p:cNvCxnSpPr/>
          <p:nvPr/>
        </p:nvCxnSpPr>
        <p:spPr>
          <a:xfrm flipH="1">
            <a:off x="592008" y="1416773"/>
            <a:ext cx="2540" cy="908939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362089" y="1815373"/>
            <a:ext cx="6835497" cy="393828"/>
            <a:chOff x="1634247" y="768205"/>
            <a:chExt cx="6765894" cy="389817"/>
          </a:xfrm>
        </p:grpSpPr>
        <p:sp>
          <p:nvSpPr>
            <p:cNvPr id="27" name="等腰三角形 26"/>
            <p:cNvSpPr/>
            <p:nvPr/>
          </p:nvSpPr>
          <p:spPr>
            <a:xfrm rot="16200000" flipH="1">
              <a:off x="1654013" y="947696"/>
              <a:ext cx="190559" cy="230092"/>
            </a:xfrm>
            <a:prstGeom prst="triangle">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5"/>
            </a:p>
          </p:txBody>
        </p:sp>
        <p:sp>
          <p:nvSpPr>
            <p:cNvPr id="28" name="梯形 27"/>
            <p:cNvSpPr/>
            <p:nvPr/>
          </p:nvSpPr>
          <p:spPr>
            <a:xfrm>
              <a:off x="2617158" y="768206"/>
              <a:ext cx="370439" cy="286765"/>
            </a:xfrm>
            <a:prstGeom prst="trapezoid">
              <a:avLst>
                <a:gd name="adj" fmla="val 59351"/>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a:solidFill>
                  <a:prstClr val="white"/>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1864339" y="838047"/>
              <a:ext cx="0" cy="319975"/>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1634248" y="768206"/>
              <a:ext cx="1172010" cy="286765"/>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57520" bIns="0" rtlCol="0" anchor="ctr"/>
            <a:lstStyle/>
            <a:p>
              <a:pPr algn="r"/>
              <a:r>
                <a:rPr lang="zh-CN" altLang="en-US" sz="1300" b="1" dirty="0">
                  <a:latin typeface="微软雅黑" panose="020B0503020204020204" pitchFamily="34" charset="-122"/>
                  <a:ea typeface="微软雅黑" panose="020B0503020204020204" pitchFamily="34" charset="-122"/>
                </a:rPr>
                <a:t>教育背景</a:t>
              </a:r>
              <a:endParaRPr lang="zh-CN" altLang="en-US" sz="1300" b="1" dirty="0">
                <a:latin typeface="微软雅黑" panose="020B0503020204020204" pitchFamily="34" charset="-122"/>
                <a:ea typeface="微软雅黑" panose="020B0503020204020204" pitchFamily="34" charset="-122"/>
              </a:endParaRPr>
            </a:p>
          </p:txBody>
        </p:sp>
        <p:sp>
          <p:nvSpPr>
            <p:cNvPr id="35" name="平行四边形 34"/>
            <p:cNvSpPr/>
            <p:nvPr/>
          </p:nvSpPr>
          <p:spPr>
            <a:xfrm flipH="1">
              <a:off x="2847249" y="768205"/>
              <a:ext cx="258803" cy="286765"/>
            </a:xfrm>
            <a:prstGeom prst="parallelogram">
              <a:avLst>
                <a:gd name="adj" fmla="val 66067"/>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dirty="0">
                <a:solidFill>
                  <a:prstClr val="white"/>
                </a:solidFill>
                <a:latin typeface="微软雅黑" panose="020B0503020204020204" pitchFamily="34" charset="-122"/>
                <a:ea typeface="微软雅黑" panose="020B0503020204020204" pitchFamily="34" charset="-122"/>
              </a:endParaRPr>
            </a:p>
          </p:txBody>
        </p:sp>
        <p:cxnSp>
          <p:nvCxnSpPr>
            <p:cNvPr id="36" name="直接连接符 35"/>
            <p:cNvCxnSpPr/>
            <p:nvPr/>
          </p:nvCxnSpPr>
          <p:spPr>
            <a:xfrm>
              <a:off x="1634247" y="1054970"/>
              <a:ext cx="6765894" cy="0"/>
            </a:xfrm>
            <a:prstGeom prst="line">
              <a:avLst/>
            </a:prstGeom>
            <a:ln w="19050">
              <a:solidFill>
                <a:srgbClr val="006C39"/>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362089" y="3065766"/>
            <a:ext cx="6835497" cy="393828"/>
            <a:chOff x="1634247" y="768205"/>
            <a:chExt cx="6765894" cy="389817"/>
          </a:xfrm>
        </p:grpSpPr>
        <p:sp>
          <p:nvSpPr>
            <p:cNvPr id="38" name="等腰三角形 37"/>
            <p:cNvSpPr/>
            <p:nvPr/>
          </p:nvSpPr>
          <p:spPr>
            <a:xfrm rot="16200000" flipH="1">
              <a:off x="1654013" y="947696"/>
              <a:ext cx="190559" cy="230092"/>
            </a:xfrm>
            <a:prstGeom prst="triangle">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5"/>
            </a:p>
          </p:txBody>
        </p:sp>
        <p:sp>
          <p:nvSpPr>
            <p:cNvPr id="39" name="梯形 38"/>
            <p:cNvSpPr/>
            <p:nvPr/>
          </p:nvSpPr>
          <p:spPr>
            <a:xfrm>
              <a:off x="2617158" y="768206"/>
              <a:ext cx="370439" cy="286765"/>
            </a:xfrm>
            <a:prstGeom prst="trapezoid">
              <a:avLst>
                <a:gd name="adj" fmla="val 59351"/>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a:solidFill>
                  <a:prstClr val="white"/>
                </a:solidFill>
                <a:latin typeface="微软雅黑" panose="020B0503020204020204" pitchFamily="34" charset="-122"/>
                <a:ea typeface="微软雅黑" panose="020B0503020204020204" pitchFamily="34" charset="-122"/>
              </a:endParaRPr>
            </a:p>
          </p:txBody>
        </p:sp>
        <p:cxnSp>
          <p:nvCxnSpPr>
            <p:cNvPr id="40" name="直接连接符 39"/>
            <p:cNvCxnSpPr/>
            <p:nvPr/>
          </p:nvCxnSpPr>
          <p:spPr>
            <a:xfrm>
              <a:off x="1864339" y="838047"/>
              <a:ext cx="0" cy="319975"/>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1634248" y="768206"/>
              <a:ext cx="1172010" cy="286765"/>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57520" bIns="0" rtlCol="0" anchor="ctr"/>
            <a:lstStyle/>
            <a:p>
              <a:pPr algn="r"/>
              <a:r>
                <a:rPr lang="zh-CN" altLang="en-US" sz="1300" b="1" dirty="0">
                  <a:latin typeface="微软雅黑" panose="020B0503020204020204" pitchFamily="34" charset="-122"/>
                  <a:ea typeface="微软雅黑" panose="020B0503020204020204" pitchFamily="34" charset="-122"/>
                </a:rPr>
                <a:t>项目经历</a:t>
              </a:r>
              <a:endParaRPr lang="zh-CN" altLang="en-US" sz="1300" b="1" dirty="0">
                <a:latin typeface="微软雅黑" panose="020B0503020204020204" pitchFamily="34" charset="-122"/>
                <a:ea typeface="微软雅黑" panose="020B0503020204020204" pitchFamily="34" charset="-122"/>
              </a:endParaRPr>
            </a:p>
          </p:txBody>
        </p:sp>
        <p:sp>
          <p:nvSpPr>
            <p:cNvPr id="42" name="平行四边形 41"/>
            <p:cNvSpPr/>
            <p:nvPr/>
          </p:nvSpPr>
          <p:spPr>
            <a:xfrm flipH="1">
              <a:off x="2847249" y="768205"/>
              <a:ext cx="258803" cy="286765"/>
            </a:xfrm>
            <a:prstGeom prst="parallelogram">
              <a:avLst>
                <a:gd name="adj" fmla="val 66067"/>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dirty="0">
                <a:solidFill>
                  <a:prstClr val="white"/>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1634247" y="1054970"/>
              <a:ext cx="6765894" cy="0"/>
            </a:xfrm>
            <a:prstGeom prst="line">
              <a:avLst/>
            </a:prstGeom>
            <a:ln w="19050">
              <a:solidFill>
                <a:srgbClr val="006C39"/>
              </a:solidFill>
            </a:ln>
          </p:spPr>
          <p:style>
            <a:lnRef idx="1">
              <a:schemeClr val="accent1"/>
            </a:lnRef>
            <a:fillRef idx="0">
              <a:schemeClr val="accent1"/>
            </a:fillRef>
            <a:effectRef idx="0">
              <a:schemeClr val="accent1"/>
            </a:effectRef>
            <a:fontRef idx="minor">
              <a:schemeClr val="tx1"/>
            </a:fontRef>
          </p:style>
        </p:cxnSp>
      </p:grpSp>
      <p:graphicFrame>
        <p:nvGraphicFramePr>
          <p:cNvPr id="15" name="表格 16"/>
          <p:cNvGraphicFramePr>
            <a:graphicFrameLocks noGrp="1"/>
          </p:cNvGraphicFramePr>
          <p:nvPr/>
        </p:nvGraphicFramePr>
        <p:xfrm>
          <a:off x="699423" y="1096131"/>
          <a:ext cx="5154104" cy="1116000"/>
        </p:xfrm>
        <a:graphic>
          <a:graphicData uri="http://schemas.openxmlformats.org/drawingml/2006/table">
            <a:tbl>
              <a:tblPr firstRow="1" bandRow="1">
                <a:tableStyleId>{5C22544A-7EE6-4342-B048-85BDC9FD1C3A}</a:tableStyleId>
              </a:tblPr>
              <a:tblGrid>
                <a:gridCol w="680429"/>
                <a:gridCol w="1937608"/>
                <a:gridCol w="678095"/>
                <a:gridCol w="1857972"/>
              </a:tblGrid>
              <a:tr h="223200">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zh-CN" altLang="zh-CN" sz="1100" b="0" kern="100" dirty="0">
                          <a:solidFill>
                            <a:schemeClr val="tx1"/>
                          </a:solidFill>
                          <a:effectLst/>
                          <a:latin typeface="微软雅黑" panose="020B0503020204020204" pitchFamily="34" charset="-122"/>
                          <a:ea typeface="微软雅黑" panose="020B0503020204020204" pitchFamily="34" charset="-122"/>
                        </a:rPr>
                        <a:t>姓　　名：</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zh-CN" altLang="zh-CN" sz="1100" b="0" kern="100" dirty="0">
                          <a:solidFill>
                            <a:schemeClr val="tx1"/>
                          </a:solidFill>
                          <a:effectLst/>
                          <a:latin typeface="微软雅黑" panose="020B0503020204020204" pitchFamily="34" charset="-122"/>
                          <a:ea typeface="微软雅黑" panose="020B0503020204020204" pitchFamily="34" charset="-122"/>
                        </a:rPr>
                        <a:t>李瑞彬</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zh-CN" altLang="zh-CN" sz="1100" b="0" kern="100" dirty="0">
                          <a:solidFill>
                            <a:schemeClr val="tx1"/>
                          </a:solidFill>
                          <a:effectLst/>
                          <a:latin typeface="微软雅黑" panose="020B0503020204020204" pitchFamily="34" charset="-122"/>
                          <a:ea typeface="微软雅黑" panose="020B0503020204020204" pitchFamily="34" charset="-122"/>
                        </a:rPr>
                        <a:t>出生年月：</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en-US" altLang="zh-CN" sz="1100" b="0" kern="100" dirty="0">
                          <a:solidFill>
                            <a:schemeClr val="tx1"/>
                          </a:solidFill>
                          <a:effectLst/>
                          <a:latin typeface="微软雅黑" panose="020B0503020204020204" pitchFamily="34" charset="-122"/>
                          <a:ea typeface="微软雅黑" panose="020B0503020204020204" pitchFamily="34" charset="-122"/>
                        </a:rPr>
                        <a:t>2002.05</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23200">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zh-CN" altLang="zh-CN" sz="1100" b="0" kern="100" dirty="0">
                          <a:solidFill>
                            <a:schemeClr val="tx1"/>
                          </a:solidFill>
                          <a:effectLst/>
                          <a:latin typeface="微软雅黑" panose="020B0503020204020204" pitchFamily="34" charset="-122"/>
                          <a:ea typeface="微软雅黑" panose="020B0503020204020204" pitchFamily="34" charset="-122"/>
                        </a:rPr>
                        <a:t>电　　话：</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en-US" altLang="zh-CN" sz="1100" b="0" kern="100" dirty="0">
                          <a:solidFill>
                            <a:schemeClr val="tx1"/>
                          </a:solidFill>
                          <a:effectLst/>
                          <a:latin typeface="微软雅黑" panose="020B0503020204020204" pitchFamily="34" charset="-122"/>
                          <a:ea typeface="微软雅黑" panose="020B0503020204020204" pitchFamily="34" charset="-122"/>
                        </a:rPr>
                        <a:t>18813175306</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zh-CN" altLang="zh-CN" sz="1100" b="0" kern="100" dirty="0">
                          <a:solidFill>
                            <a:schemeClr val="tx1"/>
                          </a:solidFill>
                          <a:effectLst/>
                          <a:latin typeface="微软雅黑" panose="020B0503020204020204" pitchFamily="34" charset="-122"/>
                          <a:ea typeface="微软雅黑" panose="020B0503020204020204" pitchFamily="34" charset="-122"/>
                        </a:rPr>
                        <a:t>在读院校：</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zh-CN" altLang="zh-CN" sz="1100" b="0" kern="100" dirty="0">
                          <a:solidFill>
                            <a:schemeClr val="tx1"/>
                          </a:solidFill>
                          <a:effectLst/>
                          <a:latin typeface="微软雅黑" panose="020B0503020204020204" pitchFamily="34" charset="-122"/>
                          <a:ea typeface="微软雅黑" panose="020B0503020204020204" pitchFamily="34" charset="-122"/>
                        </a:rPr>
                        <a:t>北京理工大学</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223200">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zh-CN" altLang="zh-CN" sz="1100" b="0" kern="100" dirty="0">
                          <a:solidFill>
                            <a:schemeClr val="tx1"/>
                          </a:solidFill>
                          <a:effectLst/>
                          <a:latin typeface="微软雅黑" panose="020B0503020204020204" pitchFamily="34" charset="-122"/>
                          <a:ea typeface="微软雅黑" panose="020B0503020204020204" pitchFamily="34" charset="-122"/>
                        </a:rPr>
                        <a:t>邮　　箱：</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en-US" altLang="zh-CN" sz="1100" b="0" kern="100" dirty="0">
                          <a:solidFill>
                            <a:schemeClr val="tx1"/>
                          </a:solidFill>
                          <a:effectLst/>
                          <a:latin typeface="微软雅黑" panose="020B0503020204020204" pitchFamily="34" charset="-122"/>
                          <a:ea typeface="微软雅黑" panose="020B0503020204020204" pitchFamily="34" charset="-122"/>
                        </a:rPr>
                        <a:t>3220241153@bit.edu.cn</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zh-CN" altLang="zh-CN" sz="1100" b="0" kern="100" dirty="0">
                          <a:solidFill>
                            <a:schemeClr val="tx1"/>
                          </a:solidFill>
                          <a:effectLst/>
                          <a:latin typeface="微软雅黑" panose="020B0503020204020204" pitchFamily="34" charset="-122"/>
                          <a:ea typeface="微软雅黑" panose="020B0503020204020204" pitchFamily="34" charset="-122"/>
                        </a:rPr>
                        <a:t>学　　历：</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755650" rtl="0" eaLnBrk="1" fontAlgn="auto" latinLnBrk="0" hangingPunct="1">
                        <a:lnSpc>
                          <a:spcPct val="100000"/>
                        </a:lnSpc>
                        <a:spcBef>
                          <a:spcPts val="0"/>
                        </a:spcBef>
                        <a:spcAft>
                          <a:spcPts val="0"/>
                        </a:spcAft>
                        <a:buClrTx/>
                        <a:buSzTx/>
                        <a:buFontTx/>
                        <a:buNone/>
                        <a:defRPr/>
                      </a:pPr>
                      <a:r>
                        <a:rPr lang="zh-CN" altLang="zh-CN" sz="1100" b="0" kern="100" dirty="0">
                          <a:solidFill>
                            <a:schemeClr val="tx1"/>
                          </a:solidFill>
                          <a:effectLst/>
                          <a:latin typeface="微软雅黑" panose="020B0503020204020204" pitchFamily="34" charset="-122"/>
                          <a:ea typeface="微软雅黑" panose="020B0503020204020204" pitchFamily="34" charset="-122"/>
                        </a:rPr>
                        <a:t>硕士</a:t>
                      </a:r>
                      <a:endParaRPr lang="zh-CN"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graphicFrame>
        <p:nvGraphicFramePr>
          <p:cNvPr id="17" name="表格 16"/>
          <p:cNvGraphicFramePr>
            <a:graphicFrameLocks noGrp="1"/>
          </p:cNvGraphicFramePr>
          <p:nvPr>
            <p:custDataLst>
              <p:tags r:id="rId1"/>
            </p:custDataLst>
          </p:nvPr>
        </p:nvGraphicFramePr>
        <p:xfrm>
          <a:off x="699770" y="2105025"/>
          <a:ext cx="6310630" cy="612775"/>
        </p:xfrm>
        <a:graphic>
          <a:graphicData uri="http://schemas.openxmlformats.org/drawingml/2006/table">
            <a:tbl>
              <a:tblPr firstRow="1" firstCol="1" bandRow="1">
                <a:tableStyleId>{5C22544A-7EE6-4342-B048-85BDC9FD1C3A}</a:tableStyleId>
              </a:tblPr>
              <a:tblGrid>
                <a:gridCol w="1813560"/>
                <a:gridCol w="2152015"/>
                <a:gridCol w="2345055"/>
              </a:tblGrid>
              <a:tr h="203835">
                <a:tc>
                  <a:txBody>
                    <a:bodyPr/>
                    <a:lstStyle/>
                    <a:p>
                      <a:pPr algn="l"/>
                      <a:r>
                        <a:rPr lang="en-US" sz="1100" kern="100" dirty="0">
                          <a:solidFill>
                            <a:schemeClr val="tx1"/>
                          </a:solidFill>
                          <a:effectLst/>
                          <a:latin typeface="微软雅黑" panose="020B0503020204020204" pitchFamily="34" charset="-122"/>
                          <a:ea typeface="微软雅黑" panose="020B0503020204020204" pitchFamily="34" charset="-122"/>
                        </a:rPr>
                        <a:t>2024.09-</a:t>
                      </a:r>
                      <a:r>
                        <a:rPr lang="zh-CN" altLang="en-US" sz="1100" kern="100" dirty="0">
                          <a:solidFill>
                            <a:schemeClr val="tx1"/>
                          </a:solidFill>
                          <a:effectLst/>
                          <a:latin typeface="微软雅黑" panose="020B0503020204020204" pitchFamily="34" charset="-122"/>
                          <a:ea typeface="微软雅黑" panose="020B0503020204020204" pitchFamily="34" charset="-122"/>
                        </a:rPr>
                        <a:t>至今</a:t>
                      </a:r>
                      <a:endParaRPr lang="zh-CN" altLang="en-US" sz="110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zh-CN" sz="1100" kern="100" dirty="0">
                          <a:solidFill>
                            <a:schemeClr val="tx1"/>
                          </a:solidFill>
                          <a:effectLst/>
                          <a:latin typeface="微软雅黑" panose="020B0503020204020204" pitchFamily="34" charset="-122"/>
                          <a:ea typeface="微软雅黑" panose="020B0503020204020204" pitchFamily="34" charset="-122"/>
                        </a:rPr>
                        <a:t>北京理工大学</a:t>
                      </a:r>
                      <a:endParaRPr lang="zh-CN" sz="11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zh-CN" sz="1100" kern="100">
                          <a:solidFill>
                            <a:schemeClr val="tx1"/>
                          </a:solidFill>
                          <a:effectLst/>
                          <a:latin typeface="微软雅黑" panose="020B0503020204020204" pitchFamily="34" charset="-122"/>
                          <a:ea typeface="微软雅黑" panose="020B0503020204020204" pitchFamily="34" charset="-122"/>
                        </a:rPr>
                        <a:t>控制工程</a:t>
                      </a:r>
                      <a:r>
                        <a:rPr lang="en-US" sz="1100" kern="100">
                          <a:solidFill>
                            <a:schemeClr val="tx1"/>
                          </a:solidFill>
                          <a:effectLst/>
                          <a:latin typeface="微软雅黑" panose="020B0503020204020204" pitchFamily="34" charset="-122"/>
                          <a:ea typeface="微软雅黑" panose="020B0503020204020204" pitchFamily="34" charset="-122"/>
                        </a:rPr>
                        <a:t>(</a:t>
                      </a:r>
                      <a:r>
                        <a:rPr lang="zh-CN" sz="1100" kern="100">
                          <a:solidFill>
                            <a:schemeClr val="tx1"/>
                          </a:solidFill>
                          <a:effectLst/>
                          <a:latin typeface="微软雅黑" panose="020B0503020204020204" pitchFamily="34" charset="-122"/>
                          <a:ea typeface="微软雅黑" panose="020B0503020204020204" pitchFamily="34" charset="-122"/>
                        </a:rPr>
                        <a:t>硕士</a:t>
                      </a:r>
                      <a:r>
                        <a:rPr lang="en-US" sz="1100" kern="100">
                          <a:solidFill>
                            <a:schemeClr val="tx1"/>
                          </a:solidFill>
                          <a:effectLst/>
                          <a:latin typeface="微软雅黑" panose="020B0503020204020204" pitchFamily="34" charset="-122"/>
                          <a:ea typeface="微软雅黑" panose="020B0503020204020204" pitchFamily="34" charset="-122"/>
                        </a:rPr>
                        <a:t>)</a:t>
                      </a:r>
                      <a:endParaRPr lang="zh-CN" sz="11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408940">
                <a:tc gridSpan="3">
                  <a:txBody>
                    <a:bodyPr/>
                    <a:lstStyle/>
                    <a:p>
                      <a:pPr algn="just">
                        <a:lnSpc>
                          <a:spcPts val="1600"/>
                        </a:lnSpc>
                      </a:pPr>
                      <a:endParaRPr lang="zh-CN" sz="11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cPr/>
                </a:tc>
                <a:tc hMerge="1">
                  <a:tcPr/>
                </a:tc>
              </a:tr>
            </a:tbl>
          </a:graphicData>
        </a:graphic>
      </p:graphicFrame>
      <p:graphicFrame>
        <p:nvGraphicFramePr>
          <p:cNvPr id="65" name="表格 64"/>
          <p:cNvGraphicFramePr>
            <a:graphicFrameLocks noGrp="1"/>
          </p:cNvGraphicFramePr>
          <p:nvPr>
            <p:custDataLst>
              <p:tags r:id="rId2"/>
            </p:custDataLst>
          </p:nvPr>
        </p:nvGraphicFramePr>
        <p:xfrm>
          <a:off x="699770" y="2368550"/>
          <a:ext cx="6310630" cy="622935"/>
        </p:xfrm>
        <a:graphic>
          <a:graphicData uri="http://schemas.openxmlformats.org/drawingml/2006/table">
            <a:tbl>
              <a:tblPr firstRow="1" firstCol="1" bandRow="1">
                <a:tableStyleId>{5C22544A-7EE6-4342-B048-85BDC9FD1C3A}</a:tableStyleId>
              </a:tblPr>
              <a:tblGrid>
                <a:gridCol w="1813560"/>
                <a:gridCol w="2152015"/>
                <a:gridCol w="2345055"/>
              </a:tblGrid>
              <a:tr h="186055">
                <a:tc>
                  <a:txBody>
                    <a:bodyPr/>
                    <a:lstStyle/>
                    <a:p>
                      <a:pPr algn="l"/>
                      <a:r>
                        <a:rPr lang="en-US" sz="1100" kern="100" dirty="0">
                          <a:solidFill>
                            <a:schemeClr val="tx1"/>
                          </a:solidFill>
                          <a:effectLst/>
                          <a:latin typeface="微软雅黑" panose="020B0503020204020204" pitchFamily="34" charset="-122"/>
                          <a:ea typeface="微软雅黑" panose="020B0503020204020204" pitchFamily="34" charset="-122"/>
                        </a:rPr>
                        <a:t>2020.09-2024.06</a:t>
                      </a:r>
                      <a:endParaRPr lang="zh-CN" sz="11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sz="1100" kern="100" dirty="0">
                          <a:solidFill>
                            <a:schemeClr val="tx1"/>
                          </a:solidFill>
                          <a:effectLst/>
                          <a:latin typeface="微软雅黑" panose="020B0503020204020204" pitchFamily="34" charset="-122"/>
                          <a:ea typeface="微软雅黑" panose="020B0503020204020204" pitchFamily="34" charset="-122"/>
                        </a:rPr>
                        <a:t>哈尔滨工业大学（</a:t>
                      </a:r>
                      <a:r>
                        <a:rPr lang="zh-CN" sz="1100" kern="100" dirty="0">
                          <a:solidFill>
                            <a:schemeClr val="tx1"/>
                          </a:solidFill>
                          <a:effectLst/>
                          <a:latin typeface="微软雅黑" panose="020B0503020204020204" pitchFamily="34" charset="-122"/>
                          <a:ea typeface="微软雅黑" panose="020B0503020204020204" pitchFamily="34" charset="-122"/>
                        </a:rPr>
                        <a:t>威海）</a:t>
                      </a:r>
                      <a:endParaRPr lang="zh-CN" sz="110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100" kern="100" dirty="0">
                          <a:solidFill>
                            <a:schemeClr val="tx1"/>
                          </a:solidFill>
                          <a:effectLst/>
                          <a:latin typeface="微软雅黑" panose="020B0503020204020204" pitchFamily="34" charset="-122"/>
                          <a:ea typeface="微软雅黑" panose="020B0503020204020204" pitchFamily="34" charset="-122"/>
                        </a:rPr>
                        <a:t>自动化（</a:t>
                      </a:r>
                      <a:r>
                        <a:rPr lang="zh-CN" altLang="en-US" sz="1100" kern="100" dirty="0">
                          <a:solidFill>
                            <a:schemeClr val="tx1"/>
                          </a:solidFill>
                          <a:effectLst/>
                          <a:latin typeface="微软雅黑" panose="020B0503020204020204" pitchFamily="34" charset="-122"/>
                          <a:ea typeface="微软雅黑" panose="020B0503020204020204" pitchFamily="34" charset="-122"/>
                        </a:rPr>
                        <a:t>本科）</a:t>
                      </a:r>
                      <a:endParaRPr lang="zh-CN" altLang="en-US" sz="110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6880">
                <a:tc gridSpan="3">
                  <a:txBody>
                    <a:bodyPr/>
                    <a:lstStyle/>
                    <a:p>
                      <a:pPr algn="just">
                        <a:lnSpc>
                          <a:spcPts val="1600"/>
                        </a:lnSpc>
                      </a:pPr>
                      <a:r>
                        <a:rPr lang="zh-CN" altLang="en-US" sz="1100" b="0" kern="100" dirty="0">
                          <a:solidFill>
                            <a:schemeClr val="tx1"/>
                          </a:solidFill>
                          <a:effectLst/>
                          <a:latin typeface="微软雅黑" panose="020B0503020204020204" pitchFamily="34" charset="-122"/>
                          <a:ea typeface="微软雅黑" panose="020B0503020204020204" pitchFamily="34" charset="-122"/>
                        </a:rPr>
                        <a:t>主修课程：</a:t>
                      </a:r>
                      <a:endParaRPr lang="zh-CN" altLang="en-US" sz="1100" b="0" kern="100" dirty="0">
                        <a:solidFill>
                          <a:schemeClr val="tx1"/>
                        </a:solidFill>
                        <a:effectLst/>
                        <a:latin typeface="微软雅黑" panose="020B0503020204020204" pitchFamily="34" charset="-122"/>
                        <a:ea typeface="微软雅黑" panose="020B0503020204020204" pitchFamily="34" charset="-122"/>
                      </a:endParaRPr>
                    </a:p>
                    <a:p>
                      <a:pPr algn="just">
                        <a:lnSpc>
                          <a:spcPts val="1600"/>
                        </a:lnSpc>
                      </a:pPr>
                      <a:r>
                        <a:rPr lang="zh-CN" altLang="en-US" sz="1100" b="0" kern="100" dirty="0">
                          <a:solidFill>
                            <a:schemeClr val="tx1"/>
                          </a:solidFill>
                          <a:effectLst/>
                          <a:latin typeface="微软雅黑" panose="020B0503020204020204" pitchFamily="34" charset="-122"/>
                          <a:ea typeface="微软雅黑" panose="020B0503020204020204" pitchFamily="34" charset="-122"/>
                        </a:rPr>
                        <a:t>线性代数</a:t>
                      </a:r>
                      <a:r>
                        <a:rPr lang="en-US" altLang="zh-CN" sz="1100" b="0" kern="100" dirty="0">
                          <a:solidFill>
                            <a:schemeClr val="tx1"/>
                          </a:solidFill>
                          <a:effectLst/>
                          <a:latin typeface="微软雅黑" panose="020B0503020204020204" pitchFamily="34" charset="-122"/>
                          <a:ea typeface="微软雅黑" panose="020B0503020204020204" pitchFamily="34" charset="-122"/>
                        </a:rPr>
                        <a:t>(96)</a:t>
                      </a:r>
                      <a:r>
                        <a:rPr lang="zh-CN" altLang="en-US" sz="1100" b="0" kern="100" dirty="0">
                          <a:solidFill>
                            <a:schemeClr val="tx1"/>
                          </a:solidFill>
                          <a:effectLst/>
                          <a:latin typeface="微软雅黑" panose="020B0503020204020204" pitchFamily="34" charset="-122"/>
                          <a:ea typeface="微软雅黑" panose="020B0503020204020204" pitchFamily="34" charset="-122"/>
                        </a:rPr>
                        <a:t>、概率论</a:t>
                      </a:r>
                      <a:r>
                        <a:rPr lang="en-US" altLang="zh-CN" sz="1100" b="0" kern="100" dirty="0">
                          <a:solidFill>
                            <a:schemeClr val="tx1"/>
                          </a:solidFill>
                          <a:effectLst/>
                          <a:latin typeface="微软雅黑" panose="020B0503020204020204" pitchFamily="34" charset="-122"/>
                          <a:ea typeface="微软雅黑" panose="020B0503020204020204" pitchFamily="34" charset="-122"/>
                        </a:rPr>
                        <a:t>(96)</a:t>
                      </a:r>
                      <a:r>
                        <a:rPr lang="zh-CN" altLang="en-US" sz="1100" b="0" kern="100" dirty="0">
                          <a:solidFill>
                            <a:schemeClr val="tx1"/>
                          </a:solidFill>
                          <a:effectLst/>
                          <a:latin typeface="微软雅黑" panose="020B0503020204020204" pitchFamily="34" charset="-122"/>
                          <a:ea typeface="微软雅黑" panose="020B0503020204020204" pitchFamily="34" charset="-122"/>
                        </a:rPr>
                        <a:t>、模拟电子基础</a:t>
                      </a:r>
                      <a:r>
                        <a:rPr lang="en-US" altLang="zh-CN" sz="1100" b="0" kern="100" dirty="0">
                          <a:solidFill>
                            <a:schemeClr val="tx1"/>
                          </a:solidFill>
                          <a:effectLst/>
                          <a:latin typeface="微软雅黑" panose="020B0503020204020204" pitchFamily="34" charset="-122"/>
                          <a:ea typeface="微软雅黑" panose="020B0503020204020204" pitchFamily="34" charset="-122"/>
                        </a:rPr>
                        <a:t>(90)</a:t>
                      </a:r>
                      <a:r>
                        <a:rPr lang="zh-CN" altLang="en-US" sz="1100" b="0" kern="100" dirty="0">
                          <a:solidFill>
                            <a:schemeClr val="tx1"/>
                          </a:solidFill>
                          <a:effectLst/>
                          <a:latin typeface="微软雅黑" panose="020B0503020204020204" pitchFamily="34" charset="-122"/>
                          <a:ea typeface="微软雅黑" panose="020B0503020204020204" pitchFamily="34" charset="-122"/>
                        </a:rPr>
                        <a:t>、数字电子基础</a:t>
                      </a:r>
                      <a:r>
                        <a:rPr lang="en-US" altLang="zh-CN" sz="1100" b="0" kern="100" dirty="0">
                          <a:solidFill>
                            <a:schemeClr val="tx1"/>
                          </a:solidFill>
                          <a:effectLst/>
                          <a:latin typeface="微软雅黑" panose="020B0503020204020204" pitchFamily="34" charset="-122"/>
                          <a:ea typeface="微软雅黑" panose="020B0503020204020204" pitchFamily="34" charset="-122"/>
                        </a:rPr>
                        <a:t>(92)</a:t>
                      </a:r>
                      <a:r>
                        <a:rPr lang="zh-CN" altLang="en-US" sz="1100" b="0" kern="100" dirty="0">
                          <a:solidFill>
                            <a:schemeClr val="tx1"/>
                          </a:solidFill>
                          <a:effectLst/>
                          <a:latin typeface="微软雅黑" panose="020B0503020204020204" pitchFamily="34" charset="-122"/>
                          <a:ea typeface="微软雅黑" panose="020B0503020204020204" pitchFamily="34" charset="-122"/>
                        </a:rPr>
                        <a:t>、现代控制理论</a:t>
                      </a:r>
                      <a:r>
                        <a:rPr lang="en-US" altLang="zh-CN" sz="1100" b="0" kern="100" dirty="0">
                          <a:solidFill>
                            <a:schemeClr val="tx1"/>
                          </a:solidFill>
                          <a:effectLst/>
                          <a:latin typeface="微软雅黑" panose="020B0503020204020204" pitchFamily="34" charset="-122"/>
                          <a:ea typeface="微软雅黑" panose="020B0503020204020204" pitchFamily="34" charset="-122"/>
                        </a:rPr>
                        <a:t>(95)</a:t>
                      </a:r>
                      <a:endParaRPr lang="en-US" altLang="zh-CN" sz="1100" b="0" kern="100" dirty="0">
                        <a:solidFill>
                          <a:schemeClr val="tx1"/>
                        </a:solidFill>
                        <a:effectLst/>
                        <a:latin typeface="微软雅黑" panose="020B0503020204020204" pitchFamily="34" charset="-122"/>
                        <a:ea typeface="微软雅黑" panose="020B0503020204020204" pitchFamily="34" charset="-122"/>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bl>
          </a:graphicData>
        </a:graphic>
      </p:graphicFrame>
      <p:graphicFrame>
        <p:nvGraphicFramePr>
          <p:cNvPr id="66" name="表格 65"/>
          <p:cNvGraphicFramePr>
            <a:graphicFrameLocks noGrp="1"/>
          </p:cNvGraphicFramePr>
          <p:nvPr/>
        </p:nvGraphicFramePr>
        <p:xfrm>
          <a:off x="689259" y="4889386"/>
          <a:ext cx="6310759" cy="564788"/>
        </p:xfrm>
        <a:graphic>
          <a:graphicData uri="http://schemas.openxmlformats.org/drawingml/2006/table">
            <a:tbl>
              <a:tblPr firstRow="1" firstCol="1" bandRow="1">
                <a:tableStyleId>{5C22544A-7EE6-4342-B048-85BDC9FD1C3A}</a:tableStyleId>
              </a:tblPr>
              <a:tblGrid>
                <a:gridCol w="1813401"/>
                <a:gridCol w="4497358"/>
              </a:tblGrid>
              <a:tr h="296038">
                <a:tc>
                  <a:txBody>
                    <a:bodyPr/>
                    <a:lstStyle/>
                    <a:p>
                      <a:pPr algn="l"/>
                      <a:r>
                        <a:rPr lang="en-US" sz="1100" b="1" kern="100" dirty="0">
                          <a:solidFill>
                            <a:schemeClr val="tx1"/>
                          </a:solidFill>
                          <a:effectLst/>
                          <a:latin typeface="微软雅黑" panose="020B0503020204020204" pitchFamily="34" charset="-122"/>
                          <a:ea typeface="等线" panose="02010600030101010101" pitchFamily="2" charset="-122"/>
                          <a:cs typeface="Times New Roman" panose="02020603050405020304" pitchFamily="18" charset="0"/>
                        </a:rPr>
                        <a:t>2024.09-至今</a:t>
                      </a:r>
                      <a:endParaRPr lang="en-US" sz="1100" b="1" kern="100" dirty="0">
                        <a:solidFill>
                          <a:schemeClr val="tx1"/>
                        </a:solidFill>
                        <a:effectLst/>
                        <a:latin typeface="微软雅黑" panose="020B0503020204020204" pitchFamily="34" charset="-122"/>
                        <a:ea typeface="等线" panose="02010600030101010101" pitchFamily="2"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ClrTx/>
                        <a:buSzTx/>
                        <a:buFontTx/>
                      </a:pPr>
                      <a:r>
                        <a:rPr lang="zh-CN" altLang="en-US" sz="1100" b="1" kern="100" dirty="0">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rPr>
                        <a:t>基于固定时间观测器的结构化深度神经反步固定时间姿态控制方法</a:t>
                      </a:r>
                      <a:endParaRPr lang="zh-CN" altLang="en-US" sz="1100" b="1" kern="100" dirty="0">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67" name="表格 66"/>
          <p:cNvGraphicFramePr>
            <a:graphicFrameLocks noGrp="1"/>
          </p:cNvGraphicFramePr>
          <p:nvPr/>
        </p:nvGraphicFramePr>
        <p:xfrm>
          <a:off x="702593" y="6877891"/>
          <a:ext cx="6310759" cy="564788"/>
        </p:xfrm>
        <a:graphic>
          <a:graphicData uri="http://schemas.openxmlformats.org/drawingml/2006/table">
            <a:tbl>
              <a:tblPr firstRow="1" firstCol="1" bandRow="1">
                <a:tableStyleId>{5C22544A-7EE6-4342-B048-85BDC9FD1C3A}</a:tableStyleId>
              </a:tblPr>
              <a:tblGrid>
                <a:gridCol w="1813401"/>
                <a:gridCol w="4497358"/>
              </a:tblGrid>
              <a:tr h="296038">
                <a:tc>
                  <a:txBody>
                    <a:bodyPr/>
                    <a:lstStyle/>
                    <a:p>
                      <a:pPr algn="l"/>
                      <a:r>
                        <a:rPr lang="en-US" sz="1100" b="1" kern="100" dirty="0">
                          <a:solidFill>
                            <a:schemeClr val="tx1"/>
                          </a:solidFill>
                          <a:effectLst/>
                          <a:latin typeface="微软雅黑" panose="020B0503020204020204" pitchFamily="34" charset="-122"/>
                          <a:ea typeface="等线" panose="02010600030101010101" pitchFamily="2" charset="-122"/>
                          <a:cs typeface="Times New Roman" panose="02020603050405020304" pitchFamily="18" charset="0"/>
                        </a:rPr>
                        <a:t>2025.09-至今</a:t>
                      </a:r>
                      <a:endParaRPr lang="en-US" sz="1100" b="1" kern="100" dirty="0">
                        <a:solidFill>
                          <a:schemeClr val="tx1"/>
                        </a:solidFill>
                        <a:effectLst/>
                        <a:latin typeface="微软雅黑" panose="020B0503020204020204" pitchFamily="34" charset="-122"/>
                        <a:ea typeface="等线" panose="02010600030101010101" pitchFamily="2"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ClrTx/>
                        <a:buSzTx/>
                        <a:buFontTx/>
                      </a:pPr>
                      <a:r>
                        <a:rPr lang="zh-CN" altLang="en-US" sz="1100" b="1" kern="100" dirty="0">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rPr>
                        <a:t>北京深朴智能科技有限公司（实习</a:t>
                      </a:r>
                      <a:r>
                        <a:rPr lang="zh-CN" altLang="en-US" sz="1100" b="1" kern="100" dirty="0">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100" b="1" kern="100" dirty="0">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pic>
        <p:nvPicPr>
          <p:cNvPr id="6" name="图片 6" descr="01l"/>
          <p:cNvPicPr>
            <a:picLocks noChangeAspect="1"/>
          </p:cNvPicPr>
          <p:nvPr/>
        </p:nvPicPr>
        <p:blipFill>
          <a:blip r:embed="rId3"/>
          <a:stretch>
            <a:fillRect/>
          </a:stretch>
        </p:blipFill>
        <p:spPr>
          <a:xfrm>
            <a:off x="6165850" y="649605"/>
            <a:ext cx="993775" cy="1419225"/>
          </a:xfrm>
          <a:prstGeom prst="rect">
            <a:avLst/>
          </a:prstGeom>
        </p:spPr>
      </p:pic>
      <p:sp>
        <p:nvSpPr>
          <p:cNvPr id="3" name="文本框 2"/>
          <p:cNvSpPr txBox="1"/>
          <p:nvPr/>
        </p:nvSpPr>
        <p:spPr>
          <a:xfrm>
            <a:off x="700405" y="5140960"/>
            <a:ext cx="6498590" cy="1783715"/>
          </a:xfrm>
          <a:prstGeom prst="rect">
            <a:avLst/>
          </a:prstGeom>
          <a:noFill/>
        </p:spPr>
        <p:txBody>
          <a:bodyPr wrap="square" rtlCol="0">
            <a:spAutoFit/>
          </a:bodyPr>
          <a:p>
            <a:pPr marL="171450" indent="-171450">
              <a:buFont typeface="Arial" panose="020B0604020202020204" pitchFamily="34" charset="0"/>
              <a:buChar char="•"/>
            </a:pPr>
            <a:r>
              <a:rPr lang="zh-CN" altLang="en-US" sz="1100"/>
              <a:t>开展挠性航天器</a:t>
            </a:r>
            <a:r>
              <a:rPr lang="zh-CN" altLang="en-US" sz="1100" b="1"/>
              <a:t>高精度姿态控制算法</a:t>
            </a:r>
            <a:r>
              <a:rPr lang="zh-CN" altLang="en-US" sz="1100"/>
              <a:t>研究，针对挠性振动、空间干扰与执行器故障等多源不确定性，建立了包含挠性模态的四元数姿态误差动力学模型，将复杂不确定性归并为</a:t>
            </a:r>
            <a:r>
              <a:rPr lang="zh-CN" altLang="en-US" sz="1100" b="1"/>
              <a:t>集总</a:t>
            </a:r>
            <a:r>
              <a:rPr lang="zh-CN" altLang="en-US" sz="1100" b="1"/>
              <a:t>不确定性项</a:t>
            </a:r>
            <a:r>
              <a:rPr lang="zh-CN" altLang="en-US" sz="1100"/>
              <a:t>。</a:t>
            </a:r>
            <a:endParaRPr lang="zh-CN" altLang="en-US" sz="1100"/>
          </a:p>
          <a:p>
            <a:pPr marL="171450" indent="-171450">
              <a:buFont typeface="Arial" panose="020B0604020202020204" pitchFamily="34" charset="0"/>
              <a:buChar char="•"/>
            </a:pPr>
            <a:r>
              <a:rPr lang="zh-CN" altLang="en-US" sz="1100"/>
              <a:t>应用</a:t>
            </a:r>
            <a:r>
              <a:rPr lang="zh-CN" altLang="en-US" sz="1100" b="1"/>
              <a:t>固定时间收敛</a:t>
            </a:r>
            <a:r>
              <a:rPr lang="zh-CN" altLang="en-US" sz="1100"/>
              <a:t>理论，设计固定时间扰动观测器，实现了对集总扰动在预设固定时间内的快速精确估计。基于</a:t>
            </a:r>
            <a:r>
              <a:rPr lang="zh-CN" altLang="en-US" sz="1100" b="1">
                <a:sym typeface="+mn-ea"/>
              </a:rPr>
              <a:t>结构化深度神经网络</a:t>
            </a:r>
            <a:r>
              <a:rPr lang="zh-CN" altLang="en-US" sz="1100"/>
              <a:t>，设计深度神经反步固定时间控制器，引入深度神经网络</a:t>
            </a:r>
            <a:r>
              <a:rPr lang="zh-CN" altLang="en-US" sz="1100">
                <a:sym typeface="+mn-ea"/>
              </a:rPr>
              <a:t>实时求解的优化变量</a:t>
            </a:r>
            <a:r>
              <a:rPr lang="zh-CN" altLang="en-US" sz="1100"/>
              <a:t>，构建了</a:t>
            </a:r>
            <a:r>
              <a:rPr lang="en-US" altLang="zh-CN" sz="1100"/>
              <a:t>“</a:t>
            </a:r>
            <a:r>
              <a:rPr lang="zh-CN" altLang="en-US" sz="1100" b="1"/>
              <a:t>观测</a:t>
            </a:r>
            <a:r>
              <a:rPr lang="en-US" altLang="zh-CN" sz="1100" b="1"/>
              <a:t>-</a:t>
            </a:r>
            <a:r>
              <a:rPr lang="zh-CN" altLang="en-US" sz="1100" b="1"/>
              <a:t>补偿</a:t>
            </a:r>
            <a:r>
              <a:rPr lang="en-US" altLang="zh-CN" sz="1100" b="1"/>
              <a:t>-</a:t>
            </a:r>
            <a:r>
              <a:rPr lang="zh-CN" altLang="en-US" sz="1100" b="1"/>
              <a:t>优化</a:t>
            </a:r>
            <a:r>
              <a:rPr lang="en-US" altLang="zh-CN" sz="1100" b="1"/>
              <a:t>-</a:t>
            </a:r>
            <a:r>
              <a:rPr lang="zh-CN" altLang="en-US" sz="1100" b="1"/>
              <a:t>控制</a:t>
            </a:r>
            <a:r>
              <a:rPr lang="en-US" altLang="zh-CN" sz="1100"/>
              <a:t>”</a:t>
            </a:r>
            <a:r>
              <a:rPr lang="zh-CN" altLang="en-US" sz="1100"/>
              <a:t>一体的固定时间控制架构，将每一步反步设计转化为一个在线优化问题，提升了系统的响应速度与控制</a:t>
            </a:r>
            <a:r>
              <a:rPr lang="zh-CN" altLang="en-US" sz="1100"/>
              <a:t>性能。</a:t>
            </a:r>
            <a:endParaRPr lang="zh-CN" altLang="en-US" sz="1100"/>
          </a:p>
          <a:p>
            <a:pPr marL="171450" indent="-171450">
              <a:buFont typeface="Arial" panose="020B0604020202020204" pitchFamily="34" charset="0"/>
              <a:buChar char="•"/>
            </a:pPr>
            <a:r>
              <a:rPr lang="zh-CN" altLang="en-US" sz="1100"/>
              <a:t>通过</a:t>
            </a:r>
            <a:r>
              <a:rPr lang="zh-CN" altLang="en-US" sz="1100" b="1"/>
              <a:t>李雅普诺夫理论</a:t>
            </a:r>
            <a:r>
              <a:rPr lang="zh-CN" altLang="en-US" sz="1100"/>
              <a:t>严格证明了系统所有信号的有界性并推导出收敛时间上界及误差残差界的显式表达，并通过数值仿真验证了所提方法在执行器故障和外部扰动条件下的有效性与鲁棒性。仿真结果表明，该控制方法能够在约</a:t>
            </a:r>
            <a:r>
              <a:rPr lang="en-US" altLang="zh-CN" sz="1100" b="1"/>
              <a:t>12 s</a:t>
            </a:r>
            <a:r>
              <a:rPr lang="zh-CN" altLang="en-US" sz="1100"/>
              <a:t>内实现姿态与角速度误差的快速收敛，并在约</a:t>
            </a:r>
            <a:r>
              <a:rPr lang="en-US" altLang="zh-CN" sz="1100" b="1"/>
              <a:t>40 s</a:t>
            </a:r>
            <a:r>
              <a:rPr lang="zh-CN" altLang="en-US" sz="1100"/>
              <a:t>内有效抑制挠性振动，</a:t>
            </a:r>
            <a:endParaRPr lang="zh-CN" altLang="en-US" sz="1100"/>
          </a:p>
        </p:txBody>
      </p:sp>
      <p:sp>
        <p:nvSpPr>
          <p:cNvPr id="4" name="文本框 3"/>
          <p:cNvSpPr txBox="1"/>
          <p:nvPr/>
        </p:nvSpPr>
        <p:spPr>
          <a:xfrm>
            <a:off x="704215" y="7116445"/>
            <a:ext cx="6498590" cy="2688590"/>
          </a:xfrm>
          <a:prstGeom prst="rect">
            <a:avLst/>
          </a:prstGeom>
          <a:noFill/>
        </p:spPr>
        <p:txBody>
          <a:bodyPr wrap="square" rtlCol="0">
            <a:noAutofit/>
          </a:bodyPr>
          <a:p>
            <a:pPr marL="171450" indent="-171450">
              <a:buFont typeface="Arial" panose="020B0604020202020204" pitchFamily="34" charset="0"/>
              <a:buChar char="•"/>
            </a:pPr>
            <a:r>
              <a:rPr lang="zh-CN" altLang="en-US" sz="1100"/>
              <a:t>基于</a:t>
            </a:r>
            <a:r>
              <a:rPr lang="en-US" altLang="zh-CN" sz="1100" b="1"/>
              <a:t>ROS2</a:t>
            </a:r>
            <a:r>
              <a:rPr lang="zh-CN" altLang="en-US" sz="1100"/>
              <a:t>系统，利用</a:t>
            </a:r>
            <a:r>
              <a:rPr lang="en-US" altLang="zh-CN" sz="1100" b="1"/>
              <a:t>TRAC-IK</a:t>
            </a:r>
            <a:r>
              <a:rPr lang="zh-CN" altLang="en-US" sz="1100"/>
              <a:t>逆运动学求解库，为</a:t>
            </a:r>
            <a:r>
              <a:rPr lang="en-US" altLang="zh-CN" sz="1100" b="1"/>
              <a:t>OpenManipulator</a:t>
            </a:r>
            <a:r>
              <a:rPr lang="zh-CN" altLang="en-US" sz="1100" b="1"/>
              <a:t>系列七自由度机械臂</a:t>
            </a:r>
            <a:r>
              <a:rPr lang="zh-CN" altLang="en-US" sz="1100"/>
              <a:t>开发了</a:t>
            </a:r>
            <a:r>
              <a:rPr lang="en-US" altLang="zh-CN" sz="1100" b="1"/>
              <a:t>VR</a:t>
            </a:r>
            <a:r>
              <a:rPr lang="zh-CN" altLang="en-US" sz="1100" b="1"/>
              <a:t>手柄遥操</a:t>
            </a:r>
            <a:r>
              <a:rPr lang="zh-CN" altLang="en-US" sz="1100"/>
              <a:t>功能。通过</a:t>
            </a:r>
            <a:r>
              <a:rPr lang="en-US" altLang="zh-CN" sz="1100"/>
              <a:t>TCP</a:t>
            </a:r>
            <a:r>
              <a:rPr lang="zh-CN" altLang="en-US" sz="1100"/>
              <a:t>网络通信协议，实时接收</a:t>
            </a:r>
            <a:r>
              <a:rPr lang="en-US" altLang="zh-CN" sz="1100"/>
              <a:t>VR</a:t>
            </a:r>
            <a:r>
              <a:rPr lang="zh-CN" altLang="en-US" sz="1100"/>
              <a:t>手柄发送的末端位姿（位置</a:t>
            </a:r>
            <a:r>
              <a:rPr lang="en-US" altLang="zh-CN" sz="1100"/>
              <a:t>+</a:t>
            </a:r>
            <a:r>
              <a:rPr lang="zh-CN" altLang="en-US" sz="1100"/>
              <a:t>四元数姿态）作为</a:t>
            </a:r>
            <a:r>
              <a:rPr lang="en-US" altLang="zh-CN" sz="1100"/>
              <a:t>7</a:t>
            </a:r>
            <a:r>
              <a:rPr lang="zh-CN" altLang="en-US" sz="1100"/>
              <a:t>维轨迹参考。实现了</a:t>
            </a:r>
            <a:r>
              <a:rPr lang="en-US" altLang="zh-CN" sz="1100" b="1"/>
              <a:t>72Hz</a:t>
            </a:r>
            <a:r>
              <a:rPr lang="zh-CN" altLang="en-US" sz="1100"/>
              <a:t>的逆解计算与关节指令</a:t>
            </a:r>
            <a:r>
              <a:rPr lang="en-US" altLang="zh-CN" sz="1100"/>
              <a:t>can</a:t>
            </a:r>
            <a:r>
              <a:rPr lang="zh-CN" altLang="en-US" sz="1100"/>
              <a:t>口下发，在机械臂灵巧工作空间内，将遥操作末端定位精度控制在</a:t>
            </a:r>
            <a:r>
              <a:rPr lang="en-US" altLang="zh-CN" sz="1100" b="1"/>
              <a:t>0.5</a:t>
            </a:r>
            <a:r>
              <a:rPr lang="zh-CN" altLang="en-US" sz="1100" b="1"/>
              <a:t>厘米与</a:t>
            </a:r>
            <a:r>
              <a:rPr lang="en-US" altLang="zh-CN" sz="1100" b="1"/>
              <a:t>0.1</a:t>
            </a:r>
            <a:r>
              <a:rPr lang="zh-CN" altLang="en-US" sz="1100" b="1"/>
              <a:t>弧度</a:t>
            </a:r>
            <a:r>
              <a:rPr lang="zh-CN" altLang="en-US" sz="1100"/>
              <a:t>以内。</a:t>
            </a:r>
            <a:endParaRPr lang="zh-CN" altLang="en-US" sz="1100"/>
          </a:p>
          <a:p>
            <a:pPr marL="171450" indent="-171450">
              <a:buFont typeface="Arial" panose="020B0604020202020204" pitchFamily="34" charset="0"/>
              <a:buChar char="•"/>
            </a:pPr>
            <a:r>
              <a:rPr lang="zh-CN" altLang="en-US" sz="1100"/>
              <a:t>基于</a:t>
            </a:r>
            <a:r>
              <a:rPr lang="en-US" altLang="zh-CN" sz="1100" b="1"/>
              <a:t>OCS2</a:t>
            </a:r>
            <a:r>
              <a:rPr lang="zh-CN" altLang="en-US" sz="1100" b="1"/>
              <a:t>全身控制</a:t>
            </a:r>
            <a:r>
              <a:rPr lang="zh-CN" altLang="en-US" sz="1100"/>
              <a:t>框架，为</a:t>
            </a:r>
            <a:r>
              <a:rPr lang="en-US" altLang="zh-CN" sz="1100"/>
              <a:t>“</a:t>
            </a:r>
            <a:r>
              <a:rPr lang="zh-CN" altLang="en-US" sz="1100"/>
              <a:t>移动底盘</a:t>
            </a:r>
            <a:r>
              <a:rPr lang="en-US" altLang="zh-CN" sz="1100"/>
              <a:t>+</a:t>
            </a:r>
            <a:r>
              <a:rPr lang="zh-CN" altLang="en-US" sz="1100"/>
              <a:t>俯仰腰部</a:t>
            </a:r>
            <a:r>
              <a:rPr lang="en-US" altLang="zh-CN" sz="1100"/>
              <a:t>+</a:t>
            </a:r>
            <a:r>
              <a:rPr lang="zh-CN" altLang="en-US" sz="1100"/>
              <a:t>双机械臂</a:t>
            </a:r>
            <a:r>
              <a:rPr lang="en-US" altLang="zh-CN" sz="1100"/>
              <a:t>”</a:t>
            </a:r>
            <a:r>
              <a:rPr lang="zh-CN" altLang="en-US" sz="1100"/>
              <a:t>的复合机器人系统设计了全身协同控制器。该控制器统一优化</a:t>
            </a:r>
            <a:r>
              <a:rPr lang="zh-CN" altLang="en-US" sz="1100" b="1"/>
              <a:t>轮式底盘平面移动、腰部偏航俯仰升降及双臂关节运动</a:t>
            </a:r>
            <a:r>
              <a:rPr lang="zh-CN" altLang="en-US" sz="1100"/>
              <a:t>，以响应单</a:t>
            </a:r>
            <a:r>
              <a:rPr lang="en-US" altLang="zh-CN" sz="1100"/>
              <a:t>/</a:t>
            </a:r>
            <a:r>
              <a:rPr lang="zh-CN" altLang="en-US" sz="1100"/>
              <a:t>双臂末端的目标位姿或连续轨迹输入。在</a:t>
            </a:r>
            <a:r>
              <a:rPr lang="en-US" altLang="zh-CN" sz="1100" b="1"/>
              <a:t>Gazebo</a:t>
            </a:r>
            <a:r>
              <a:rPr lang="zh-CN" altLang="en-US" sz="1100"/>
              <a:t>仿真环境中构建并验证系统，通过</a:t>
            </a:r>
            <a:r>
              <a:rPr lang="en-US" altLang="zh-CN" sz="1100"/>
              <a:t>MPC</a:t>
            </a:r>
            <a:r>
              <a:rPr lang="zh-CN" altLang="en-US" sz="1100"/>
              <a:t>扩展了双臂末端协同工作空间。控制器实现了</a:t>
            </a:r>
            <a:r>
              <a:rPr lang="en-US" altLang="zh-CN" sz="1100" b="1"/>
              <a:t>0.1cm</a:t>
            </a:r>
            <a:r>
              <a:rPr lang="zh-CN" altLang="en-US" sz="1100"/>
              <a:t>的位置跟踪精度与</a:t>
            </a:r>
            <a:r>
              <a:rPr lang="en-US" altLang="zh-CN" sz="1100" b="1"/>
              <a:t>0.05rad</a:t>
            </a:r>
            <a:r>
              <a:rPr lang="zh-CN" altLang="en-US" sz="1100"/>
              <a:t>的姿态跟踪精度，并同步完成了</a:t>
            </a:r>
            <a:r>
              <a:rPr lang="zh-CN" altLang="en-US" sz="1100" b="1"/>
              <a:t>关节限位检测与双臂自碰撞检测</a:t>
            </a:r>
            <a:r>
              <a:rPr lang="zh-CN" altLang="en-US" sz="1100"/>
              <a:t>功能模块的开发。</a:t>
            </a:r>
            <a:endParaRPr lang="zh-CN" altLang="en-US" sz="1100"/>
          </a:p>
          <a:p>
            <a:pPr marL="171450" indent="-171450">
              <a:buFont typeface="Arial" panose="020B0604020202020204" pitchFamily="34" charset="0"/>
              <a:buChar char="•"/>
            </a:pPr>
            <a:r>
              <a:rPr lang="zh-CN" altLang="en-US" sz="1100"/>
              <a:t>根据</a:t>
            </a:r>
            <a:r>
              <a:rPr lang="zh-CN" altLang="en-US" sz="1100" b="1"/>
              <a:t>阻抗</a:t>
            </a:r>
            <a:r>
              <a:rPr lang="en-US" altLang="zh-CN" sz="1100" b="1"/>
              <a:t>/</a:t>
            </a:r>
            <a:r>
              <a:rPr lang="zh-CN" altLang="en-US" sz="1100" b="1"/>
              <a:t>导纳</a:t>
            </a:r>
            <a:r>
              <a:rPr lang="zh-CN" altLang="en-US" sz="1100"/>
              <a:t>控制原理，实现一种基于</a:t>
            </a:r>
            <a:r>
              <a:rPr lang="zh-CN" altLang="en-US" sz="1100" b="1"/>
              <a:t>强化学习（</a:t>
            </a:r>
            <a:r>
              <a:rPr lang="en-US" altLang="zh-CN" sz="1100" b="1"/>
              <a:t>PPO</a:t>
            </a:r>
            <a:r>
              <a:rPr lang="zh-CN" altLang="en-US" sz="1100" b="1"/>
              <a:t>）</a:t>
            </a:r>
            <a:r>
              <a:rPr lang="zh-CN" altLang="en-US" sz="1100"/>
              <a:t>的智能力控方案。通过在</a:t>
            </a:r>
            <a:r>
              <a:rPr lang="en-US" altLang="zh-CN" sz="1100" b="1"/>
              <a:t>isaac gym</a:t>
            </a:r>
            <a:r>
              <a:rPr lang="zh-CN" altLang="en-US" sz="1100"/>
              <a:t>中训练一个</a:t>
            </a:r>
            <a:r>
              <a:rPr lang="zh-CN" altLang="en-US" sz="1100" b="1"/>
              <a:t>外力估计器</a:t>
            </a:r>
            <a:r>
              <a:rPr lang="zh-CN" altLang="en-US" sz="1100"/>
              <a:t>（利用机械臂历史状态与期望接触力作为输入），在线实时估计末端与桌面间的接触力。将该估计器集成于力位混合控制回路，实现了</a:t>
            </a:r>
            <a:r>
              <a:rPr lang="en-US" altLang="zh-CN" sz="1100" b="1"/>
              <a:t>ur7e</a:t>
            </a:r>
            <a:r>
              <a:rPr lang="zh-CN" altLang="en-US" sz="1100" b="1"/>
              <a:t>机械臂</a:t>
            </a:r>
            <a:r>
              <a:rPr lang="zh-CN" altLang="en-US" sz="1100"/>
              <a:t>末端对未知桌面平面的自适应恒力施加。实验表明，在不同表面情况下，施加力的</a:t>
            </a:r>
            <a:r>
              <a:rPr lang="zh-CN" altLang="en-US" sz="1100" b="1"/>
              <a:t>方差稳定在</a:t>
            </a:r>
            <a:r>
              <a:rPr lang="en-US" altLang="zh-CN" sz="1100" b="1"/>
              <a:t>20%​</a:t>
            </a:r>
            <a:r>
              <a:rPr lang="en-US" altLang="zh-CN" sz="1100"/>
              <a:t> </a:t>
            </a:r>
            <a:r>
              <a:rPr lang="zh-CN" altLang="en-US" sz="1100"/>
              <a:t>以内，提升了机器人在桌面擦拭等需力交互场景中的</a:t>
            </a:r>
            <a:r>
              <a:rPr lang="zh-CN" altLang="en-US" sz="1100"/>
              <a:t>精确性。</a:t>
            </a:r>
            <a:endParaRPr lang="zh-CN" altLang="en-US" sz="1100"/>
          </a:p>
        </p:txBody>
      </p:sp>
      <p:graphicFrame>
        <p:nvGraphicFramePr>
          <p:cNvPr id="5" name="表格 4"/>
          <p:cNvGraphicFramePr>
            <a:graphicFrameLocks noGrp="1"/>
          </p:cNvGraphicFramePr>
          <p:nvPr/>
        </p:nvGraphicFramePr>
        <p:xfrm>
          <a:off x="699418" y="3459686"/>
          <a:ext cx="6310759" cy="564788"/>
        </p:xfrm>
        <a:graphic>
          <a:graphicData uri="http://schemas.openxmlformats.org/drawingml/2006/table">
            <a:tbl>
              <a:tblPr firstRow="1" firstCol="1" bandRow="1">
                <a:tableStyleId>{5C22544A-7EE6-4342-B048-85BDC9FD1C3A}</a:tableStyleId>
              </a:tblPr>
              <a:tblGrid>
                <a:gridCol w="1692910"/>
                <a:gridCol w="4617849"/>
              </a:tblGrid>
              <a:tr h="296038">
                <a:tc>
                  <a:txBody>
                    <a:bodyPr/>
                    <a:p>
                      <a:pPr algn="l"/>
                      <a:r>
                        <a:rPr lang="en-US" sz="1100" b="1" kern="100" dirty="0">
                          <a:solidFill>
                            <a:schemeClr val="tx1"/>
                          </a:solidFill>
                          <a:effectLst/>
                          <a:latin typeface="微软雅黑" panose="020B0503020204020204" pitchFamily="34" charset="-122"/>
                          <a:ea typeface="等线" panose="02010600030101010101" pitchFamily="2" charset="-122"/>
                          <a:cs typeface="Times New Roman" panose="02020603050405020304" pitchFamily="18" charset="0"/>
                        </a:rPr>
                        <a:t>2</a:t>
                      </a:r>
                      <a:r>
                        <a:rPr lang="en-US" sz="1100" b="1" kern="100" dirty="0">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rPr>
                        <a:t>024.12-2025.9</a:t>
                      </a:r>
                      <a:endParaRPr lang="zh-CN" altLang="en-US" sz="1100" b="1" kern="100" dirty="0">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p>
                      <a:pPr algn="ctr">
                        <a:buClrTx/>
                        <a:buSzTx/>
                        <a:buFontTx/>
                      </a:pPr>
                      <a:r>
                        <a:rPr lang="en-US" sz="1100" b="1" kern="100" dirty="0">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rPr>
                        <a:t>基于神经网络与双通道事件触发机制的航天器自适应姿态控制方法</a:t>
                      </a:r>
                      <a:endParaRPr lang="en-US" sz="1100" b="1" kern="100" dirty="0">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7" name="文本框 6"/>
          <p:cNvSpPr txBox="1"/>
          <p:nvPr/>
        </p:nvSpPr>
        <p:spPr>
          <a:xfrm>
            <a:off x="688340" y="3698240"/>
            <a:ext cx="6509385" cy="1191260"/>
          </a:xfrm>
          <a:prstGeom prst="rect">
            <a:avLst/>
          </a:prstGeom>
          <a:noFill/>
        </p:spPr>
        <p:txBody>
          <a:bodyPr wrap="square" rtlCol="0">
            <a:noAutofit/>
          </a:bodyPr>
          <a:p>
            <a:pPr marL="171450" indent="-171450">
              <a:buFont typeface="Arial" panose="020B0604020202020204" pitchFamily="34" charset="0"/>
              <a:buChar char="•"/>
            </a:pPr>
            <a:r>
              <a:rPr lang="zh-CN" altLang="en-US" sz="1100"/>
              <a:t>针对航天器在</a:t>
            </a:r>
            <a:r>
              <a:rPr lang="zh-CN" altLang="en-US" sz="1100" b="1"/>
              <a:t>外部干扰和模型不确定性条件</a:t>
            </a:r>
            <a:r>
              <a:rPr lang="zh-CN" altLang="en-US" sz="1100"/>
              <a:t>下姿态控制精度不足与通信资源受限的问题，</a:t>
            </a:r>
            <a:r>
              <a:rPr lang="zh-CN" altLang="en-US" sz="1100"/>
              <a:t>设计基于</a:t>
            </a:r>
            <a:r>
              <a:rPr lang="zh-CN" altLang="en-US" sz="1100" b="1"/>
              <a:t>神经网络与双通道事件触发</a:t>
            </a:r>
            <a:r>
              <a:rPr lang="zh-CN" altLang="en-US" sz="1100"/>
              <a:t>机制的航天器自适应姿态控制方法。</a:t>
            </a:r>
            <a:endParaRPr lang="zh-CN" altLang="en-US" sz="1100"/>
          </a:p>
          <a:p>
            <a:pPr marL="171450" indent="-171450">
              <a:buFont typeface="Arial" panose="020B0604020202020204" pitchFamily="34" charset="0"/>
              <a:buChar char="•"/>
            </a:pPr>
            <a:r>
              <a:rPr lang="zh-CN" altLang="en-US" sz="1100"/>
              <a:t>针对一般航天器姿态动力学模型，引入</a:t>
            </a:r>
            <a:r>
              <a:rPr lang="zh-CN" altLang="en-US" sz="1100" b="1"/>
              <a:t>滑模量</a:t>
            </a:r>
            <a:r>
              <a:rPr lang="zh-CN" altLang="en-US" sz="1100"/>
              <a:t>构建滑模姿态控制模型，由</a:t>
            </a:r>
            <a:r>
              <a:rPr lang="zh-CN" altLang="en-US" sz="1100" b="1"/>
              <a:t>径向基函数神经网络</a:t>
            </a:r>
            <a:r>
              <a:rPr lang="zh-CN" altLang="en-US" sz="1100"/>
              <a:t>逼近系统模型不确定性以及非线性项，并利用</a:t>
            </a:r>
            <a:r>
              <a:rPr lang="zh-CN" altLang="en-US" sz="1100" b="1"/>
              <a:t>动态面滤波技术</a:t>
            </a:r>
            <a:r>
              <a:rPr lang="zh-CN" altLang="en-US" sz="1100"/>
              <a:t>抑制高频噪声与抖振现象。</a:t>
            </a:r>
            <a:endParaRPr lang="zh-CN" altLang="en-US" sz="1100"/>
          </a:p>
          <a:p>
            <a:pPr marL="171450" indent="-171450">
              <a:buFont typeface="Arial" panose="020B0604020202020204" pitchFamily="34" charset="0"/>
              <a:buChar char="•"/>
            </a:pPr>
            <a:r>
              <a:rPr lang="zh-CN" altLang="en-US" sz="1100"/>
              <a:t>基于</a:t>
            </a:r>
            <a:r>
              <a:rPr lang="en-US" altLang="zh-CN" sz="1100" b="1"/>
              <a:t>MATLAB</a:t>
            </a:r>
            <a:r>
              <a:rPr lang="zh-CN" altLang="en-US" sz="1100"/>
              <a:t>进行仿真验证，稳态时，姿态跟踪最大误差为</a:t>
            </a:r>
            <a:r>
              <a:rPr lang="en-US" altLang="zh-CN" sz="1100"/>
              <a:t>0.02deg</a:t>
            </a:r>
            <a:r>
              <a:rPr lang="zh-CN" altLang="en-US" sz="1100"/>
              <a:t>，角速度跟踪误差最大为</a:t>
            </a:r>
            <a:r>
              <a:rPr lang="en-US" altLang="zh-CN" sz="1100"/>
              <a:t>0.06deg/s</a:t>
            </a:r>
            <a:r>
              <a:rPr lang="zh-CN" altLang="en-US" sz="1100"/>
              <a:t>，双通道触发频率相较于传统固定最大通信频率分别下降</a:t>
            </a:r>
            <a:r>
              <a:rPr lang="en-US" altLang="zh-CN" sz="1100"/>
              <a:t>97%</a:t>
            </a:r>
            <a:r>
              <a:rPr lang="zh-CN" altLang="en-US" sz="1100"/>
              <a:t>和</a:t>
            </a:r>
            <a:r>
              <a:rPr lang="en-US" altLang="zh-CN" sz="1100"/>
              <a:t>73%</a:t>
            </a:r>
            <a:r>
              <a:rPr lang="zh-CN" altLang="en-US" sz="1100"/>
              <a:t>。在环境</a:t>
            </a:r>
            <a:r>
              <a:rPr lang="zh-CN" altLang="en-US" sz="1100">
                <a:sym typeface="+mn-ea"/>
              </a:rPr>
              <a:t>外部干扰和模型不确定性环境</a:t>
            </a:r>
            <a:r>
              <a:rPr lang="zh-CN" altLang="en-US" sz="1100"/>
              <a:t>下，实现有限通信资源下</a:t>
            </a:r>
            <a:r>
              <a:rPr lang="zh-CN" altLang="en-US" sz="1100"/>
              <a:t>的航天器姿态高精度</a:t>
            </a:r>
            <a:r>
              <a:rPr lang="zh-CN" altLang="en-US" sz="1100"/>
              <a:t>跟踪。</a:t>
            </a:r>
            <a:endParaRPr lang="zh-CN" alt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p:cNvCxnSpPr/>
          <p:nvPr/>
        </p:nvCxnSpPr>
        <p:spPr>
          <a:xfrm flipH="1">
            <a:off x="592008" y="1416773"/>
            <a:ext cx="2540" cy="908939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363359" y="752937"/>
            <a:ext cx="6835497" cy="393828"/>
            <a:chOff x="1634247" y="768205"/>
            <a:chExt cx="6765894" cy="389817"/>
          </a:xfrm>
        </p:grpSpPr>
        <p:sp>
          <p:nvSpPr>
            <p:cNvPr id="8" name="等腰三角形 7"/>
            <p:cNvSpPr/>
            <p:nvPr/>
          </p:nvSpPr>
          <p:spPr>
            <a:xfrm rot="16200000" flipH="1">
              <a:off x="1654013" y="947696"/>
              <a:ext cx="190559" cy="230092"/>
            </a:xfrm>
            <a:prstGeom prst="triangle">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5"/>
            </a:p>
          </p:txBody>
        </p:sp>
        <p:sp>
          <p:nvSpPr>
            <p:cNvPr id="9" name="梯形 8"/>
            <p:cNvSpPr/>
            <p:nvPr/>
          </p:nvSpPr>
          <p:spPr>
            <a:xfrm>
              <a:off x="2617158" y="768206"/>
              <a:ext cx="370439" cy="286765"/>
            </a:xfrm>
            <a:prstGeom prst="trapezoid">
              <a:avLst>
                <a:gd name="adj" fmla="val 59351"/>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a:solidFill>
                  <a:prstClr val="white"/>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a:off x="1864339" y="838047"/>
              <a:ext cx="0" cy="319975"/>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1634248" y="768206"/>
              <a:ext cx="1172010" cy="286765"/>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57520" bIns="0" rtlCol="0" anchor="ctr"/>
            <a:lstStyle/>
            <a:p>
              <a:pPr algn="r"/>
              <a:r>
                <a:rPr lang="zh-CN" altLang="en-US" sz="1300" b="1" dirty="0">
                  <a:latin typeface="微软雅黑" panose="020B0503020204020204" pitchFamily="34" charset="-122"/>
                  <a:ea typeface="微软雅黑" panose="020B0503020204020204" pitchFamily="34" charset="-122"/>
                </a:rPr>
                <a:t>个人荣誉</a:t>
              </a:r>
              <a:endParaRPr lang="zh-CN" altLang="en-US" sz="1300" b="1" dirty="0">
                <a:latin typeface="微软雅黑" panose="020B0503020204020204" pitchFamily="34" charset="-122"/>
                <a:ea typeface="微软雅黑" panose="020B0503020204020204" pitchFamily="34" charset="-122"/>
              </a:endParaRPr>
            </a:p>
          </p:txBody>
        </p:sp>
        <p:sp>
          <p:nvSpPr>
            <p:cNvPr id="12" name="平行四边形 11"/>
            <p:cNvSpPr/>
            <p:nvPr/>
          </p:nvSpPr>
          <p:spPr>
            <a:xfrm flipH="1">
              <a:off x="2847249" y="768205"/>
              <a:ext cx="258803" cy="286765"/>
            </a:xfrm>
            <a:prstGeom prst="parallelogram">
              <a:avLst>
                <a:gd name="adj" fmla="val 66067"/>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dirty="0">
                <a:solidFill>
                  <a:prstClr val="white"/>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1634247" y="1054970"/>
              <a:ext cx="6765894" cy="0"/>
            </a:xfrm>
            <a:prstGeom prst="line">
              <a:avLst/>
            </a:prstGeom>
            <a:ln w="19050">
              <a:solidFill>
                <a:srgbClr val="006C39"/>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363359" y="1721154"/>
            <a:ext cx="6835497" cy="393828"/>
            <a:chOff x="1634247" y="768205"/>
            <a:chExt cx="6765894" cy="389817"/>
          </a:xfrm>
        </p:grpSpPr>
        <p:sp>
          <p:nvSpPr>
            <p:cNvPr id="21" name="等腰三角形 20"/>
            <p:cNvSpPr/>
            <p:nvPr/>
          </p:nvSpPr>
          <p:spPr>
            <a:xfrm rot="16200000" flipH="1">
              <a:off x="1654013" y="947696"/>
              <a:ext cx="190559" cy="230092"/>
            </a:xfrm>
            <a:prstGeom prst="triangle">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5"/>
            </a:p>
          </p:txBody>
        </p:sp>
        <p:sp>
          <p:nvSpPr>
            <p:cNvPr id="22" name="梯形 21"/>
            <p:cNvSpPr/>
            <p:nvPr/>
          </p:nvSpPr>
          <p:spPr>
            <a:xfrm>
              <a:off x="2617158" y="768206"/>
              <a:ext cx="370439" cy="286765"/>
            </a:xfrm>
            <a:prstGeom prst="trapezoid">
              <a:avLst>
                <a:gd name="adj" fmla="val 59351"/>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a:solidFill>
                  <a:prstClr val="white"/>
                </a:solidFill>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1864339" y="838047"/>
              <a:ext cx="0" cy="319975"/>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1634248" y="768206"/>
              <a:ext cx="1172010" cy="286765"/>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57520" bIns="0" rtlCol="0" anchor="ctr"/>
            <a:lstStyle/>
            <a:p>
              <a:pPr algn="r"/>
              <a:r>
                <a:rPr lang="zh-CN" altLang="en-US" sz="1300" b="1" dirty="0">
                  <a:latin typeface="微软雅黑" panose="020B0503020204020204" pitchFamily="34" charset="-122"/>
                  <a:ea typeface="微软雅黑" panose="020B0503020204020204" pitchFamily="34" charset="-122"/>
                </a:rPr>
                <a:t>个人技能</a:t>
              </a:r>
              <a:endParaRPr lang="zh-CN" altLang="en-US" sz="1300" b="1" dirty="0">
                <a:latin typeface="微软雅黑" panose="020B0503020204020204" pitchFamily="34" charset="-122"/>
                <a:ea typeface="微软雅黑" panose="020B0503020204020204" pitchFamily="34" charset="-122"/>
              </a:endParaRPr>
            </a:p>
          </p:txBody>
        </p:sp>
        <p:sp>
          <p:nvSpPr>
            <p:cNvPr id="34" name="平行四边形 33"/>
            <p:cNvSpPr/>
            <p:nvPr/>
          </p:nvSpPr>
          <p:spPr>
            <a:xfrm flipH="1">
              <a:off x="2847249" y="768205"/>
              <a:ext cx="258803" cy="286765"/>
            </a:xfrm>
            <a:prstGeom prst="parallelogram">
              <a:avLst>
                <a:gd name="adj" fmla="val 66067"/>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dirty="0">
                <a:solidFill>
                  <a:prstClr val="white"/>
                </a:solidFill>
                <a:latin typeface="微软雅黑" panose="020B0503020204020204" pitchFamily="34" charset="-122"/>
                <a:ea typeface="微软雅黑" panose="020B0503020204020204" pitchFamily="34" charset="-122"/>
              </a:endParaRPr>
            </a:p>
          </p:txBody>
        </p:sp>
        <p:cxnSp>
          <p:nvCxnSpPr>
            <p:cNvPr id="68" name="直接连接符 67"/>
            <p:cNvCxnSpPr/>
            <p:nvPr/>
          </p:nvCxnSpPr>
          <p:spPr>
            <a:xfrm>
              <a:off x="1634247" y="1054970"/>
              <a:ext cx="6765894" cy="0"/>
            </a:xfrm>
            <a:prstGeom prst="line">
              <a:avLst/>
            </a:prstGeom>
            <a:ln w="19050">
              <a:solidFill>
                <a:srgbClr val="006C39"/>
              </a:solidFill>
            </a:ln>
          </p:spPr>
          <p:style>
            <a:lnRef idx="1">
              <a:schemeClr val="accent1"/>
            </a:lnRef>
            <a:fillRef idx="0">
              <a:schemeClr val="accent1"/>
            </a:fillRef>
            <a:effectRef idx="0">
              <a:schemeClr val="accent1"/>
            </a:effectRef>
            <a:fontRef idx="minor">
              <a:schemeClr val="tx1"/>
            </a:fontRef>
          </p:style>
        </p:cxnSp>
      </p:grpSp>
      <p:grpSp>
        <p:nvGrpSpPr>
          <p:cNvPr id="72" name="组合 71"/>
          <p:cNvGrpSpPr/>
          <p:nvPr/>
        </p:nvGrpSpPr>
        <p:grpSpPr>
          <a:xfrm>
            <a:off x="362089" y="2743409"/>
            <a:ext cx="6835497" cy="393828"/>
            <a:chOff x="1634247" y="768205"/>
            <a:chExt cx="6765894" cy="389817"/>
          </a:xfrm>
        </p:grpSpPr>
        <p:sp>
          <p:nvSpPr>
            <p:cNvPr id="73" name="等腰三角形 72"/>
            <p:cNvSpPr/>
            <p:nvPr/>
          </p:nvSpPr>
          <p:spPr>
            <a:xfrm rot="16200000" flipH="1">
              <a:off x="1654013" y="947696"/>
              <a:ext cx="190559" cy="230092"/>
            </a:xfrm>
            <a:prstGeom prst="triangle">
              <a:avLst/>
            </a:pr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5"/>
            </a:p>
          </p:txBody>
        </p:sp>
        <p:sp>
          <p:nvSpPr>
            <p:cNvPr id="74" name="梯形 73"/>
            <p:cNvSpPr/>
            <p:nvPr/>
          </p:nvSpPr>
          <p:spPr>
            <a:xfrm>
              <a:off x="2617158" y="768206"/>
              <a:ext cx="370439" cy="286765"/>
            </a:xfrm>
            <a:prstGeom prst="trapezoid">
              <a:avLst>
                <a:gd name="adj" fmla="val 59351"/>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a:solidFill>
                  <a:prstClr val="white"/>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1864339" y="838047"/>
              <a:ext cx="0" cy="319975"/>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76" name="矩形 75"/>
            <p:cNvSpPr/>
            <p:nvPr/>
          </p:nvSpPr>
          <p:spPr>
            <a:xfrm>
              <a:off x="1634248" y="768206"/>
              <a:ext cx="1172010" cy="286765"/>
            </a:xfrm>
            <a:prstGeom prst="rect">
              <a:avLst/>
            </a:prstGeom>
            <a:solidFill>
              <a:srgbClr val="006C3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57520" bIns="0" rtlCol="0" anchor="ctr"/>
            <a:lstStyle/>
            <a:p>
              <a:pPr algn="r"/>
              <a:r>
                <a:rPr lang="zh-CN" altLang="en-US" sz="1300" b="1" dirty="0">
                  <a:latin typeface="微软雅黑" panose="020B0503020204020204" pitchFamily="34" charset="-122"/>
                  <a:ea typeface="微软雅黑" panose="020B0503020204020204" pitchFamily="34" charset="-122"/>
                </a:rPr>
                <a:t>自我评价</a:t>
              </a:r>
              <a:endParaRPr lang="zh-CN" altLang="en-US" sz="1300" b="1" dirty="0">
                <a:latin typeface="微软雅黑" panose="020B0503020204020204" pitchFamily="34" charset="-122"/>
                <a:ea typeface="微软雅黑" panose="020B0503020204020204" pitchFamily="34" charset="-122"/>
              </a:endParaRPr>
            </a:p>
          </p:txBody>
        </p:sp>
        <p:sp>
          <p:nvSpPr>
            <p:cNvPr id="77" name="平行四边形 76"/>
            <p:cNvSpPr/>
            <p:nvPr/>
          </p:nvSpPr>
          <p:spPr>
            <a:xfrm flipH="1">
              <a:off x="2847249" y="768205"/>
              <a:ext cx="258803" cy="286765"/>
            </a:xfrm>
            <a:prstGeom prst="parallelogram">
              <a:avLst>
                <a:gd name="adj" fmla="val 66067"/>
              </a:avLst>
            </a:prstGeom>
            <a:solidFill>
              <a:srgbClr val="006C39"/>
            </a:solidFill>
            <a:ln w="12700" cap="flat" cmpd="sng" algn="ctr">
              <a:noFill/>
              <a:prstDash val="solid"/>
              <a:miter lim="800000"/>
            </a:ln>
            <a:effectLst/>
          </p:spPr>
          <p:txBody>
            <a:bodyPr rtlCol="0" anchor="ctr"/>
            <a:lstStyle/>
            <a:p>
              <a:pPr algn="ctr" eaLnBrk="0" fontAlgn="base" hangingPunct="0">
                <a:spcBef>
                  <a:spcPct val="0"/>
                </a:spcBef>
                <a:spcAft>
                  <a:spcPct val="0"/>
                </a:spcAft>
              </a:pPr>
              <a:endParaRPr lang="zh-CN" altLang="en-US" sz="2805" kern="0" dirty="0">
                <a:solidFill>
                  <a:prstClr val="white"/>
                </a:solidFill>
                <a:latin typeface="微软雅黑" panose="020B0503020204020204" pitchFamily="34" charset="-122"/>
                <a:ea typeface="微软雅黑" panose="020B0503020204020204" pitchFamily="34" charset="-122"/>
              </a:endParaRPr>
            </a:p>
          </p:txBody>
        </p:sp>
        <p:cxnSp>
          <p:nvCxnSpPr>
            <p:cNvPr id="78" name="直接连接符 77"/>
            <p:cNvCxnSpPr/>
            <p:nvPr/>
          </p:nvCxnSpPr>
          <p:spPr>
            <a:xfrm>
              <a:off x="1634247" y="1054970"/>
              <a:ext cx="6765894" cy="0"/>
            </a:xfrm>
            <a:prstGeom prst="line">
              <a:avLst/>
            </a:prstGeom>
            <a:ln w="19050">
              <a:solidFill>
                <a:srgbClr val="006C39"/>
              </a:solidFill>
            </a:ln>
          </p:spPr>
          <p:style>
            <a:lnRef idx="1">
              <a:schemeClr val="accent1"/>
            </a:lnRef>
            <a:fillRef idx="0">
              <a:schemeClr val="accent1"/>
            </a:fillRef>
            <a:effectRef idx="0">
              <a:schemeClr val="accent1"/>
            </a:effectRef>
            <a:fontRef idx="minor">
              <a:schemeClr val="tx1"/>
            </a:fontRef>
          </p:style>
        </p:cxnSp>
      </p:grpSp>
      <p:sp>
        <p:nvSpPr>
          <p:cNvPr id="79" name="文本框 78"/>
          <p:cNvSpPr txBox="1"/>
          <p:nvPr/>
        </p:nvSpPr>
        <p:spPr>
          <a:xfrm>
            <a:off x="701958" y="1010239"/>
            <a:ext cx="6310755" cy="911860"/>
          </a:xfrm>
          <a:prstGeom prst="rect">
            <a:avLst/>
          </a:prstGeom>
          <a:noFill/>
        </p:spPr>
        <p:txBody>
          <a:bodyPr wrap="square" lIns="0" tIns="45720" rIns="0" bIns="45720">
            <a:spAutoFit/>
          </a:bodyPr>
          <a:lstStyle/>
          <a:p>
            <a:pPr>
              <a:lnSpc>
                <a:spcPts val="1600"/>
              </a:lnSpc>
            </a:pP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2020-2021</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学年秋季学期</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学习优秀</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奖学金；</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2020-2021</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学年春季学期三等奖学金；</a:t>
            </a: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a:p>
            <a:pPr>
              <a:lnSpc>
                <a:spcPts val="1600"/>
              </a:lnSpc>
            </a:pP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2020-2021</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年度</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优秀学生</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修身立德奖</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荣誉称号；</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2021-2022</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年度哈尔滨工业大学五四表彰</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优秀团干部</a:t>
            </a:r>
            <a:r>
              <a:rPr lang="en-US" altLang="zh-CN" sz="11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荣誉称号；</a:t>
            </a: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a:p>
            <a:pPr>
              <a:lnSpc>
                <a:spcPts val="1600"/>
              </a:lnSpc>
            </a:pP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0" name="文本框 79"/>
          <p:cNvSpPr txBox="1"/>
          <p:nvPr/>
        </p:nvSpPr>
        <p:spPr>
          <a:xfrm>
            <a:off x="688623" y="2036252"/>
            <a:ext cx="6310755" cy="706755"/>
          </a:xfrm>
          <a:prstGeom prst="rect">
            <a:avLst/>
          </a:prstGeom>
          <a:noFill/>
        </p:spPr>
        <p:txBody>
          <a:bodyPr wrap="square" lIns="0" tIns="45720" rIns="0" bIns="45720">
            <a:spAutoFit/>
          </a:bodyPr>
          <a:lstStyle/>
          <a:p>
            <a:pPr marL="171450" indent="-171450">
              <a:lnSpc>
                <a:spcPts val="1600"/>
              </a:lnSpc>
              <a:buFont typeface="Arial" panose="020B0604020202020204" pitchFamily="34" charset="0"/>
              <a:buChar char="•"/>
            </a:pPr>
            <a:r>
              <a:rPr lang="zh-CN" altLang="en-US" sz="1100" kern="1200" dirty="0">
                <a:effectLst/>
                <a:ea typeface="微软雅黑" panose="020B0503020204020204" pitchFamily="34" charset="-122"/>
                <a:cs typeface="Times New Roman" panose="02020603050405020304" pitchFamily="18" charset="0"/>
              </a:rPr>
              <a:t>熟悉</a:t>
            </a:r>
            <a:r>
              <a:rPr lang="en-US" altLang="zh-CN" sz="1100" kern="1200" dirty="0">
                <a:effectLst/>
                <a:ea typeface="微软雅黑" panose="020B0503020204020204" pitchFamily="34" charset="-122"/>
                <a:cs typeface="Times New Roman" panose="02020603050405020304" pitchFamily="18" charset="0"/>
              </a:rPr>
              <a:t>MATLAB</a:t>
            </a:r>
            <a:r>
              <a:rPr lang="zh-CN" altLang="en-US" sz="1100" kern="1200" dirty="0">
                <a:effectLst/>
                <a:ea typeface="微软雅黑" panose="020B0503020204020204" pitchFamily="34" charset="-122"/>
                <a:cs typeface="Times New Roman" panose="02020603050405020304" pitchFamily="18" charset="0"/>
              </a:rPr>
              <a:t>的数理计算工具箱与</a:t>
            </a:r>
            <a:r>
              <a:rPr lang="en-US" altLang="zh-CN" sz="1100" kern="1200" dirty="0">
                <a:effectLst/>
                <a:ea typeface="微软雅黑" panose="020B0503020204020204" pitchFamily="34" charset="-122"/>
                <a:cs typeface="Times New Roman" panose="02020603050405020304" pitchFamily="18" charset="0"/>
              </a:rPr>
              <a:t>Simulink</a:t>
            </a:r>
            <a:r>
              <a:rPr lang="zh-CN" altLang="en-US" sz="1100" kern="1200" dirty="0">
                <a:effectLst/>
                <a:ea typeface="微软雅黑" panose="020B0503020204020204" pitchFamily="34" charset="-122"/>
                <a:cs typeface="Times New Roman" panose="02020603050405020304" pitchFamily="18" charset="0"/>
              </a:rPr>
              <a:t>动态建模仿真环境，掌握</a:t>
            </a:r>
            <a:r>
              <a:rPr lang="en-US" altLang="zh-CN" sz="1100" kern="1200" dirty="0">
                <a:effectLst/>
                <a:ea typeface="微软雅黑" panose="020B0503020204020204" pitchFamily="34" charset="-122"/>
                <a:cs typeface="Times New Roman" panose="02020603050405020304" pitchFamily="18" charset="0"/>
              </a:rPr>
              <a:t>C++</a:t>
            </a:r>
            <a:r>
              <a:rPr lang="zh-CN" altLang="en-US" sz="1100" kern="1200" dirty="0">
                <a:effectLst/>
                <a:ea typeface="微软雅黑" panose="020B0503020204020204" pitchFamily="34" charset="-122"/>
                <a:cs typeface="Times New Roman" panose="02020603050405020304" pitchFamily="18" charset="0"/>
              </a:rPr>
              <a:t>、</a:t>
            </a:r>
            <a:r>
              <a:rPr lang="en-US" altLang="zh-CN" sz="1100" kern="1200" dirty="0">
                <a:effectLst/>
                <a:ea typeface="微软雅黑" panose="020B0503020204020204" pitchFamily="34" charset="-122"/>
                <a:cs typeface="Times New Roman" panose="02020603050405020304" pitchFamily="18" charset="0"/>
              </a:rPr>
              <a:t>python</a:t>
            </a:r>
            <a:endParaRPr lang="en-US" altLang="zh-CN" sz="1100" kern="1200" dirty="0">
              <a:effectLst/>
              <a:ea typeface="微软雅黑" panose="020B0503020204020204" pitchFamily="34" charset="-122"/>
              <a:cs typeface="Times New Roman" panose="02020603050405020304" pitchFamily="18" charset="0"/>
            </a:endParaRPr>
          </a:p>
          <a:p>
            <a:pPr marL="171450" indent="-171450">
              <a:lnSpc>
                <a:spcPts val="1600"/>
              </a:lnSpc>
              <a:buFont typeface="Arial" panose="020B0604020202020204" pitchFamily="34" charset="0"/>
              <a:buChar char="•"/>
            </a:pPr>
            <a:r>
              <a:rPr lang="zh-CN" altLang="en-US" sz="1100" kern="1200" dirty="0">
                <a:effectLst/>
                <a:ea typeface="微软雅黑" panose="020B0503020204020204" pitchFamily="34" charset="-122"/>
                <a:cs typeface="Times New Roman" panose="02020603050405020304" pitchFamily="18" charset="0"/>
              </a:rPr>
              <a:t>熟练运用</a:t>
            </a:r>
            <a:r>
              <a:rPr lang="en-US" altLang="zh-CN" sz="1100" kern="1200" dirty="0">
                <a:effectLst/>
                <a:ea typeface="微软雅黑" panose="020B0503020204020204" pitchFamily="34" charset="-122"/>
                <a:cs typeface="Times New Roman" panose="02020603050405020304" pitchFamily="18" charset="0"/>
              </a:rPr>
              <a:t>cursor</a:t>
            </a:r>
            <a:r>
              <a:rPr lang="zh-CN" altLang="en-US" sz="1100" kern="1200" dirty="0">
                <a:effectLst/>
                <a:ea typeface="微软雅黑" panose="020B0503020204020204" pitchFamily="34" charset="-122"/>
                <a:cs typeface="Times New Roman" panose="02020603050405020304" pitchFamily="18" charset="0"/>
              </a:rPr>
              <a:t>，</a:t>
            </a:r>
            <a:r>
              <a:rPr lang="en-US" altLang="zh-CN" sz="1100" kern="1200" dirty="0">
                <a:effectLst/>
                <a:ea typeface="微软雅黑" panose="020B0503020204020204" pitchFamily="34" charset="-122"/>
                <a:cs typeface="Times New Roman" panose="02020603050405020304" pitchFamily="18" charset="0"/>
              </a:rPr>
              <a:t>claudecode</a:t>
            </a:r>
            <a:r>
              <a:rPr lang="zh-CN" altLang="en-US" sz="1100" kern="1200" dirty="0">
                <a:effectLst/>
                <a:ea typeface="微软雅黑" panose="020B0503020204020204" pitchFamily="34" charset="-122"/>
                <a:cs typeface="Times New Roman" panose="02020603050405020304" pitchFamily="18" charset="0"/>
              </a:rPr>
              <a:t>等</a:t>
            </a:r>
            <a:r>
              <a:rPr lang="en-US" altLang="zh-CN" sz="1100" kern="1200" dirty="0">
                <a:effectLst/>
                <a:ea typeface="微软雅黑" panose="020B0503020204020204" pitchFamily="34" charset="-122"/>
                <a:cs typeface="Times New Roman" panose="02020603050405020304" pitchFamily="18" charset="0"/>
              </a:rPr>
              <a:t>AI</a:t>
            </a:r>
            <a:r>
              <a:rPr lang="zh-CN" altLang="en-US" sz="1100" kern="1200" dirty="0">
                <a:effectLst/>
                <a:ea typeface="微软雅黑" panose="020B0503020204020204" pitchFamily="34" charset="-122"/>
                <a:cs typeface="Times New Roman" panose="02020603050405020304" pitchFamily="18" charset="0"/>
              </a:rPr>
              <a:t>编程辅助工具</a:t>
            </a:r>
            <a:endParaRPr lang="en-US" altLang="zh-CN" sz="1100" kern="1200" dirty="0">
              <a:effectLst/>
              <a:ea typeface="微软雅黑" panose="020B0503020204020204" pitchFamily="34" charset="-122"/>
              <a:cs typeface="Times New Roman" panose="02020603050405020304" pitchFamily="18" charset="0"/>
            </a:endParaRPr>
          </a:p>
          <a:p>
            <a:pPr marL="171450" indent="-171450">
              <a:lnSpc>
                <a:spcPts val="1600"/>
              </a:lnSpc>
              <a:buFont typeface="Arial" panose="020B0604020202020204" pitchFamily="34" charset="0"/>
              <a:buChar char="•"/>
            </a:pPr>
            <a:r>
              <a:rPr lang="zh-CN" altLang="en-US" sz="1100" kern="1200" dirty="0">
                <a:effectLst/>
                <a:ea typeface="微软雅黑" panose="020B0503020204020204" pitchFamily="34" charset="-122"/>
                <a:cs typeface="Times New Roman" panose="02020603050405020304" pitchFamily="18" charset="0"/>
              </a:rPr>
              <a:t>语言水平：</a:t>
            </a:r>
            <a:r>
              <a:rPr lang="en-US" altLang="zh-CN" sz="1100" kern="1200" dirty="0">
                <a:effectLst/>
                <a:ea typeface="微软雅黑" panose="020B0503020204020204" pitchFamily="34" charset="-122"/>
                <a:cs typeface="Times New Roman" panose="02020603050405020304" pitchFamily="18" charset="0"/>
              </a:rPr>
              <a:t>CET4/6</a:t>
            </a:r>
            <a:endParaRPr lang="en-US" altLang="zh-CN" sz="1100" kern="1200" dirty="0">
              <a:effectLst/>
              <a:ea typeface="微软雅黑" panose="020B0503020204020204" pitchFamily="34" charset="-122"/>
              <a:cs typeface="Times New Roman" panose="02020603050405020304" pitchFamily="18" charset="0"/>
            </a:endParaRPr>
          </a:p>
        </p:txBody>
      </p:sp>
      <p:sp>
        <p:nvSpPr>
          <p:cNvPr id="81" name="文本框 80"/>
          <p:cNvSpPr txBox="1"/>
          <p:nvPr/>
        </p:nvSpPr>
        <p:spPr>
          <a:xfrm>
            <a:off x="701323" y="3023483"/>
            <a:ext cx="6310755" cy="487890"/>
          </a:xfrm>
          <a:prstGeom prst="rect">
            <a:avLst/>
          </a:prstGeom>
          <a:noFill/>
        </p:spPr>
        <p:txBody>
          <a:bodyPr wrap="square" lIns="0" tIns="45720" rIns="0" bIns="45720">
            <a:spAutoFit/>
          </a:bodyPr>
          <a:lstStyle/>
          <a:p>
            <a:pPr>
              <a:lnSpc>
                <a:spcPts val="1600"/>
              </a:lnSpc>
            </a:pPr>
            <a:r>
              <a:rPr lang="zh-CN" altLang="en-US" sz="1100" kern="1200" dirty="0">
                <a:effectLst/>
                <a:ea typeface="微软雅黑" panose="020B0503020204020204" pitchFamily="34" charset="-122"/>
                <a:cs typeface="Times New Roman" panose="02020603050405020304" pitchFamily="18" charset="0"/>
              </a:rPr>
              <a:t>本人性格热情开朗，为人诚恳勤奋好学、脚踏实地，积极进取，勇于挑战。有较强的团队精神，工作积极，勤奋刻苦，态度认真。有抗压能力和强烈的责任感。</a:t>
            </a:r>
            <a:endParaRPr lang="en-US" altLang="zh-CN" sz="1100" kern="1200" dirty="0">
              <a:effectLst/>
              <a:ea typeface="微软雅黑" panose="020B0503020204020204" pitchFamily="34" charset="-122"/>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TABLE_ENDDRAG_ORIGIN_RECT" val="496*48"/>
  <p:tag name="TABLE_ENDDRAG_RECT" val="55*246*496*48"/>
</p:tagLst>
</file>

<file path=ppt/tags/tag2.xml><?xml version="1.0" encoding="utf-8"?>
<p:tagLst xmlns:p="http://schemas.openxmlformats.org/presentationml/2006/main">
  <p:tag name="TABLE_ENDDRAG_ORIGIN_RECT" val="496*49"/>
  <p:tag name="TABLE_ENDDRAG_RECT" val="55*224*496*49"/>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1927</Words>
  <Application>WPS 演示</Application>
  <PresentationFormat>自定义</PresentationFormat>
  <Paragraphs>91</Paragraphs>
  <Slides>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vt:i4>
      </vt:variant>
    </vt:vector>
  </HeadingPairs>
  <TitlesOfParts>
    <vt:vector size="13" baseType="lpstr">
      <vt:lpstr>Arial</vt:lpstr>
      <vt:lpstr>宋体</vt:lpstr>
      <vt:lpstr>Wingdings</vt:lpstr>
      <vt:lpstr>微软雅黑</vt:lpstr>
      <vt:lpstr>Times New Roman</vt:lpstr>
      <vt:lpstr>等线</vt:lpstr>
      <vt:lpstr>Calibri</vt:lpstr>
      <vt:lpstr>Arial Unicode MS</vt:lpstr>
      <vt:lpstr>等线 Light</vt:lpstr>
      <vt:lpstr>Calibri Light</vt:lpstr>
      <vt:lpstr>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TicTok</dc:creator>
  <cp:lastModifiedBy>Ribbon Lee</cp:lastModifiedBy>
  <cp:revision>80</cp:revision>
  <dcterms:created xsi:type="dcterms:W3CDTF">2021-09-03T11:50:00Z</dcterms:created>
  <dcterms:modified xsi:type="dcterms:W3CDTF">2026-04-03T10:02:35Z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5A4019B90197491CB5161A8725F07FEF_12</vt:lpwstr>
  </property>
  <property fmtid="{D5CDD505-2E9C-101B-9397-08002B2CF9AE}" pid="3" name="KSOProductBuildVer">
    <vt:lpwstr>2052-12.1.0.25225</vt:lpwstr>
  </property>
</Properties>
</file>